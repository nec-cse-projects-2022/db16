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83" r:id="rId7"/>
    <p:sldId id="284" r:id="rId8"/>
    <p:sldId id="262" r:id="rId9"/>
    <p:sldId id="282" r:id="rId10"/>
    <p:sldId id="281" r:id="rId11"/>
    <p:sldId id="263" r:id="rId12"/>
    <p:sldId id="264" r:id="rId13"/>
    <p:sldId id="265" r:id="rId14"/>
    <p:sldId id="266" r:id="rId15"/>
    <p:sldId id="267" r:id="rId16"/>
    <p:sldId id="268" r:id="rId17"/>
    <p:sldId id="285" r:id="rId18"/>
    <p:sldId id="286" r:id="rId19"/>
    <p:sldId id="287" r:id="rId20"/>
    <p:sldId id="288" r:id="rId21"/>
    <p:sldId id="289" r:id="rId22"/>
    <p:sldId id="290" r:id="rId23"/>
    <p:sldId id="269" r:id="rId24"/>
    <p:sldId id="270" r:id="rId25"/>
    <p:sldId id="271" r:id="rId26"/>
    <p:sldId id="291" r:id="rId27"/>
    <p:sldId id="292" r:id="rId28"/>
    <p:sldId id="293" r:id="rId29"/>
    <p:sldId id="272" r:id="rId30"/>
    <p:sldId id="280" r:id="rId31"/>
    <p:sldId id="273" r:id="rId32"/>
    <p:sldId id="294" r:id="rId33"/>
    <p:sldId id="295" r:id="rId34"/>
    <p:sldId id="274" r:id="rId35"/>
    <p:sldId id="296" r:id="rId36"/>
    <p:sldId id="275" r:id="rId37"/>
    <p:sldId id="278" r:id="rId38"/>
    <p:sldId id="279" r:id="rId39"/>
    <p:sldId id="277" r:id="rId40"/>
    <p:sldId id="276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1634" autoAdjust="0"/>
  </p:normalViewPr>
  <p:slideViewPr>
    <p:cSldViewPr snapToGrid="0">
      <p:cViewPr varScale="1">
        <p:scale>
          <a:sx n="75" d="100"/>
          <a:sy n="75" d="100"/>
        </p:scale>
        <p:origin x="97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4AB524-B864-4D91-BCD7-ABC1B0EEB583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D40BD2F-22F0-4119-B784-00E798ECF3D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Most studies </a:t>
          </a:r>
          <a:r>
            <a:rPr lang="en-US" b="1"/>
            <a:t>focus on domain-specific chatbots</a:t>
          </a:r>
          <a:r>
            <a:rPr lang="en-US"/>
            <a:t> (education, management, SMEs) rather than </a:t>
          </a:r>
          <a:r>
            <a:rPr lang="en-US" b="1"/>
            <a:t>general-purpose PDF interaction systems</a:t>
          </a:r>
          <a:r>
            <a:rPr lang="en-US"/>
            <a:t>.</a:t>
          </a:r>
        </a:p>
      </dgm:t>
    </dgm:pt>
    <dgm:pt modelId="{41E5D660-7EBB-4358-BDC7-4FA090379210}" type="parTrans" cxnId="{0359D2D3-E0C4-474F-822C-F2C3D5EEDFB5}">
      <dgm:prSet/>
      <dgm:spPr/>
      <dgm:t>
        <a:bodyPr/>
        <a:lstStyle/>
        <a:p>
          <a:endParaRPr lang="en-US"/>
        </a:p>
      </dgm:t>
    </dgm:pt>
    <dgm:pt modelId="{B78B6DD3-20DD-4C50-9B97-096445559005}" type="sibTrans" cxnId="{0359D2D3-E0C4-474F-822C-F2C3D5EEDFB5}">
      <dgm:prSet/>
      <dgm:spPr/>
      <dgm:t>
        <a:bodyPr/>
        <a:lstStyle/>
        <a:p>
          <a:endParaRPr lang="en-US"/>
        </a:p>
      </dgm:t>
    </dgm:pt>
    <dgm:pt modelId="{81A4002F-C649-4F1F-9773-296089C0BFA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Limited work on </a:t>
          </a:r>
          <a:r>
            <a:rPr lang="en-US" b="1"/>
            <a:t>semantic understanding and vector-based retrieval</a:t>
          </a:r>
          <a:r>
            <a:rPr lang="en-US"/>
            <a:t> for unstructured document data.</a:t>
          </a:r>
        </a:p>
      </dgm:t>
    </dgm:pt>
    <dgm:pt modelId="{6F2299F6-D40A-4F0C-9430-D57A8995A805}" type="parTrans" cxnId="{D82FC2D8-28BC-454C-84A9-8108E0768D05}">
      <dgm:prSet/>
      <dgm:spPr/>
      <dgm:t>
        <a:bodyPr/>
        <a:lstStyle/>
        <a:p>
          <a:endParaRPr lang="en-US"/>
        </a:p>
      </dgm:t>
    </dgm:pt>
    <dgm:pt modelId="{B61E543D-127A-4A74-B340-A7842C479383}" type="sibTrans" cxnId="{D82FC2D8-28BC-454C-84A9-8108E0768D05}">
      <dgm:prSet/>
      <dgm:spPr/>
      <dgm:t>
        <a:bodyPr/>
        <a:lstStyle/>
        <a:p>
          <a:endParaRPr lang="en-US"/>
        </a:p>
      </dgm:t>
    </dgm:pt>
    <dgm:pt modelId="{874D5540-E3F2-4F2C-93C5-47E81D4FFB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Few integrations of retrieval and generative models</a:t>
          </a:r>
          <a:r>
            <a:rPr lang="en-US"/>
            <a:t> in a unified, end-to-end framework.</a:t>
          </a:r>
        </a:p>
      </dgm:t>
    </dgm:pt>
    <dgm:pt modelId="{ECFBB005-33B7-49DE-B566-3ADCB5E58B4C}" type="parTrans" cxnId="{28CC28A1-37A3-4769-A2E3-11FDFD6F719B}">
      <dgm:prSet/>
      <dgm:spPr/>
      <dgm:t>
        <a:bodyPr/>
        <a:lstStyle/>
        <a:p>
          <a:endParaRPr lang="en-US"/>
        </a:p>
      </dgm:t>
    </dgm:pt>
    <dgm:pt modelId="{56A3E140-5B12-453C-B3C3-A35131D7D055}" type="sibTrans" cxnId="{28CC28A1-37A3-4769-A2E3-11FDFD6F719B}">
      <dgm:prSet/>
      <dgm:spPr/>
      <dgm:t>
        <a:bodyPr/>
        <a:lstStyle/>
        <a:p>
          <a:endParaRPr lang="en-US"/>
        </a:p>
      </dgm:t>
    </dgm:pt>
    <dgm:pt modelId="{9C722DFC-39FE-4CDB-A5B9-F1322488BC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Existing systems </a:t>
          </a:r>
          <a:r>
            <a:rPr lang="en-US" b="1"/>
            <a:t>lack multimodal capabilities</a:t>
          </a:r>
          <a:r>
            <a:rPr lang="en-US"/>
            <a:t> (cannot process diagrams, images, or scanned PDFs).</a:t>
          </a:r>
        </a:p>
      </dgm:t>
    </dgm:pt>
    <dgm:pt modelId="{A86106AB-9D8F-452D-90C4-5F42FB6125CF}" type="parTrans" cxnId="{5982103D-C94C-4503-87BF-5647B93DDE83}">
      <dgm:prSet/>
      <dgm:spPr/>
      <dgm:t>
        <a:bodyPr/>
        <a:lstStyle/>
        <a:p>
          <a:endParaRPr lang="en-US"/>
        </a:p>
      </dgm:t>
    </dgm:pt>
    <dgm:pt modelId="{D56585A4-B6D4-44D9-883B-7C538601242F}" type="sibTrans" cxnId="{5982103D-C94C-4503-87BF-5647B93DDE83}">
      <dgm:prSet/>
      <dgm:spPr/>
      <dgm:t>
        <a:bodyPr/>
        <a:lstStyle/>
        <a:p>
          <a:endParaRPr lang="en-US"/>
        </a:p>
      </dgm:t>
    </dgm:pt>
    <dgm:pt modelId="{75CD3865-80A4-4549-A221-E47D98ED61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Evaluation often limited to surveys or user perception</a:t>
          </a:r>
          <a:r>
            <a:rPr lang="en-US"/>
            <a:t>, not robust technical performance metrics.</a:t>
          </a:r>
        </a:p>
      </dgm:t>
    </dgm:pt>
    <dgm:pt modelId="{A6A3D902-0563-413A-B493-A3B671158F3B}" type="parTrans" cxnId="{7C82116B-F254-412D-9707-E3A3717E2BD4}">
      <dgm:prSet/>
      <dgm:spPr/>
      <dgm:t>
        <a:bodyPr/>
        <a:lstStyle/>
        <a:p>
          <a:endParaRPr lang="en-US"/>
        </a:p>
      </dgm:t>
    </dgm:pt>
    <dgm:pt modelId="{1BEFC509-FE98-4720-8A48-753400D3F23E}" type="sibTrans" cxnId="{7C82116B-F254-412D-9707-E3A3717E2BD4}">
      <dgm:prSet/>
      <dgm:spPr/>
      <dgm:t>
        <a:bodyPr/>
        <a:lstStyle/>
        <a:p>
          <a:endParaRPr lang="en-US"/>
        </a:p>
      </dgm:t>
    </dgm:pt>
    <dgm:pt modelId="{743AE223-CE3D-400F-94A2-389081B3A9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Scalability and real-time response optimization</a:t>
          </a:r>
          <a:r>
            <a:rPr lang="en-US"/>
            <a:t> remain unresolved in large document processing.</a:t>
          </a:r>
        </a:p>
      </dgm:t>
    </dgm:pt>
    <dgm:pt modelId="{890F9C2D-D435-45BD-9684-34932503E942}" type="parTrans" cxnId="{31D8BEF6-97A1-40C7-9033-4254B98BACEF}">
      <dgm:prSet/>
      <dgm:spPr/>
      <dgm:t>
        <a:bodyPr/>
        <a:lstStyle/>
        <a:p>
          <a:endParaRPr lang="en-US"/>
        </a:p>
      </dgm:t>
    </dgm:pt>
    <dgm:pt modelId="{F67E1E25-084C-4B48-8532-C90695E809B3}" type="sibTrans" cxnId="{31D8BEF6-97A1-40C7-9033-4254B98BACEF}">
      <dgm:prSet/>
      <dgm:spPr/>
      <dgm:t>
        <a:bodyPr/>
        <a:lstStyle/>
        <a:p>
          <a:endParaRPr lang="en-US"/>
        </a:p>
      </dgm:t>
    </dgm:pt>
    <dgm:pt modelId="{1082AEF0-A4DC-4177-A87F-6BD1552BF04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Minimal research on </a:t>
          </a:r>
          <a:r>
            <a:rPr lang="en-US" b="1"/>
            <a:t>reducing hallucination</a:t>
          </a:r>
          <a:r>
            <a:rPr lang="en-US"/>
            <a:t> and improving factual accuracy in LLM-based chatbots.</a:t>
          </a:r>
        </a:p>
      </dgm:t>
    </dgm:pt>
    <dgm:pt modelId="{7507312B-6AF5-4E04-BB88-0FB16D7ABD7A}" type="parTrans" cxnId="{708467B1-3750-4E7D-B0A2-F06A995E873D}">
      <dgm:prSet/>
      <dgm:spPr/>
      <dgm:t>
        <a:bodyPr/>
        <a:lstStyle/>
        <a:p>
          <a:endParaRPr lang="en-US"/>
        </a:p>
      </dgm:t>
    </dgm:pt>
    <dgm:pt modelId="{3CAF8777-FD8A-4EB2-8391-4B601CB9D70E}" type="sibTrans" cxnId="{708467B1-3750-4E7D-B0A2-F06A995E873D}">
      <dgm:prSet/>
      <dgm:spPr/>
      <dgm:t>
        <a:bodyPr/>
        <a:lstStyle/>
        <a:p>
          <a:endParaRPr lang="en-US"/>
        </a:p>
      </dgm:t>
    </dgm:pt>
    <dgm:pt modelId="{7B07C122-A10E-4209-9253-7DAD5007358D}" type="pres">
      <dgm:prSet presAssocID="{964AB524-B864-4D91-BCD7-ABC1B0EEB583}" presName="root" presStyleCnt="0">
        <dgm:presLayoutVars>
          <dgm:dir/>
          <dgm:resizeHandles val="exact"/>
        </dgm:presLayoutVars>
      </dgm:prSet>
      <dgm:spPr/>
    </dgm:pt>
    <dgm:pt modelId="{1623A8C0-39F6-435E-A8EA-4C8E05C37471}" type="pres">
      <dgm:prSet presAssocID="{DD40BD2F-22F0-4119-B784-00E798ECF3D4}" presName="compNode" presStyleCnt="0"/>
      <dgm:spPr/>
    </dgm:pt>
    <dgm:pt modelId="{D9026D2D-66CF-47EB-87EB-7E5995479665}" type="pres">
      <dgm:prSet presAssocID="{DD40BD2F-22F0-4119-B784-00E798ECF3D4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F8441A17-E2EA-4C6F-83A6-062D107E7962}" type="pres">
      <dgm:prSet presAssocID="{DD40BD2F-22F0-4119-B784-00E798ECF3D4}" presName="spaceRect" presStyleCnt="0"/>
      <dgm:spPr/>
    </dgm:pt>
    <dgm:pt modelId="{2ED8EEEA-E670-440B-BD95-BDE78444C8A5}" type="pres">
      <dgm:prSet presAssocID="{DD40BD2F-22F0-4119-B784-00E798ECF3D4}" presName="textRect" presStyleLbl="revTx" presStyleIdx="0" presStyleCnt="7">
        <dgm:presLayoutVars>
          <dgm:chMax val="1"/>
          <dgm:chPref val="1"/>
        </dgm:presLayoutVars>
      </dgm:prSet>
      <dgm:spPr/>
    </dgm:pt>
    <dgm:pt modelId="{846249A6-F505-4886-9D6C-F9B11F8B04BF}" type="pres">
      <dgm:prSet presAssocID="{B78B6DD3-20DD-4C50-9B97-096445559005}" presName="sibTrans" presStyleCnt="0"/>
      <dgm:spPr/>
    </dgm:pt>
    <dgm:pt modelId="{5F43D20D-80C5-470F-AAD9-1AE042CF08BB}" type="pres">
      <dgm:prSet presAssocID="{81A4002F-C649-4F1F-9773-296089C0BFA8}" presName="compNode" presStyleCnt="0"/>
      <dgm:spPr/>
    </dgm:pt>
    <dgm:pt modelId="{8F4B62CB-6998-4F0F-B1A8-073448A61D84}" type="pres">
      <dgm:prSet presAssocID="{81A4002F-C649-4F1F-9773-296089C0BFA8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0745B307-CA3D-4FCA-A2A3-89028F0DF7F7}" type="pres">
      <dgm:prSet presAssocID="{81A4002F-C649-4F1F-9773-296089C0BFA8}" presName="spaceRect" presStyleCnt="0"/>
      <dgm:spPr/>
    </dgm:pt>
    <dgm:pt modelId="{45B0EADB-5E59-4686-BE7E-76B7AD07189B}" type="pres">
      <dgm:prSet presAssocID="{81A4002F-C649-4F1F-9773-296089C0BFA8}" presName="textRect" presStyleLbl="revTx" presStyleIdx="1" presStyleCnt="7">
        <dgm:presLayoutVars>
          <dgm:chMax val="1"/>
          <dgm:chPref val="1"/>
        </dgm:presLayoutVars>
      </dgm:prSet>
      <dgm:spPr/>
    </dgm:pt>
    <dgm:pt modelId="{C499D50C-6CDD-408F-BA04-9FA98A18678B}" type="pres">
      <dgm:prSet presAssocID="{B61E543D-127A-4A74-B340-A7842C479383}" presName="sibTrans" presStyleCnt="0"/>
      <dgm:spPr/>
    </dgm:pt>
    <dgm:pt modelId="{3D389A4C-DBDC-41FD-89D0-42CC1818D0EF}" type="pres">
      <dgm:prSet presAssocID="{874D5540-E3F2-4F2C-93C5-47E81D4FFB6A}" presName="compNode" presStyleCnt="0"/>
      <dgm:spPr/>
    </dgm:pt>
    <dgm:pt modelId="{0D23A21F-3A6A-4E44-A6F9-48B3AA71EAC7}" type="pres">
      <dgm:prSet presAssocID="{874D5540-E3F2-4F2C-93C5-47E81D4FFB6A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D49866EA-A9F9-4164-AB61-AB7EA89AC551}" type="pres">
      <dgm:prSet presAssocID="{874D5540-E3F2-4F2C-93C5-47E81D4FFB6A}" presName="spaceRect" presStyleCnt="0"/>
      <dgm:spPr/>
    </dgm:pt>
    <dgm:pt modelId="{AA6DD213-CB47-442C-A03C-5E231154475B}" type="pres">
      <dgm:prSet presAssocID="{874D5540-E3F2-4F2C-93C5-47E81D4FFB6A}" presName="textRect" presStyleLbl="revTx" presStyleIdx="2" presStyleCnt="7">
        <dgm:presLayoutVars>
          <dgm:chMax val="1"/>
          <dgm:chPref val="1"/>
        </dgm:presLayoutVars>
      </dgm:prSet>
      <dgm:spPr/>
    </dgm:pt>
    <dgm:pt modelId="{B4416AFA-D0B2-4576-B030-09709D67EEDC}" type="pres">
      <dgm:prSet presAssocID="{56A3E140-5B12-453C-B3C3-A35131D7D055}" presName="sibTrans" presStyleCnt="0"/>
      <dgm:spPr/>
    </dgm:pt>
    <dgm:pt modelId="{0859CBF0-38E0-482B-901C-62B2A18B2DAB}" type="pres">
      <dgm:prSet presAssocID="{9C722DFC-39FE-4CDB-A5B9-F1322488BCC1}" presName="compNode" presStyleCnt="0"/>
      <dgm:spPr/>
    </dgm:pt>
    <dgm:pt modelId="{93E1A188-50FC-464F-8A98-21B85209EE11}" type="pres">
      <dgm:prSet presAssocID="{9C722DFC-39FE-4CDB-A5B9-F1322488BCC1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8A98C705-70A5-455F-B8E8-E4B2CBA57DA1}" type="pres">
      <dgm:prSet presAssocID="{9C722DFC-39FE-4CDB-A5B9-F1322488BCC1}" presName="spaceRect" presStyleCnt="0"/>
      <dgm:spPr/>
    </dgm:pt>
    <dgm:pt modelId="{DE97AD1A-2E7E-4185-AA79-C51E959E91A5}" type="pres">
      <dgm:prSet presAssocID="{9C722DFC-39FE-4CDB-A5B9-F1322488BCC1}" presName="textRect" presStyleLbl="revTx" presStyleIdx="3" presStyleCnt="7">
        <dgm:presLayoutVars>
          <dgm:chMax val="1"/>
          <dgm:chPref val="1"/>
        </dgm:presLayoutVars>
      </dgm:prSet>
      <dgm:spPr/>
    </dgm:pt>
    <dgm:pt modelId="{DCAF58CA-25A8-4EDC-9FBE-ED206B00ED78}" type="pres">
      <dgm:prSet presAssocID="{D56585A4-B6D4-44D9-883B-7C538601242F}" presName="sibTrans" presStyleCnt="0"/>
      <dgm:spPr/>
    </dgm:pt>
    <dgm:pt modelId="{CBC15C8E-7C21-44EE-893D-B99B01C5F70B}" type="pres">
      <dgm:prSet presAssocID="{75CD3865-80A4-4549-A221-E47D98ED6197}" presName="compNode" presStyleCnt="0"/>
      <dgm:spPr/>
    </dgm:pt>
    <dgm:pt modelId="{0B0289F2-A9DA-4431-9FD1-4273164B930B}" type="pres">
      <dgm:prSet presAssocID="{75CD3865-80A4-4549-A221-E47D98ED6197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B02A651A-A29C-4F3B-A5F7-6FAD8F95CC63}" type="pres">
      <dgm:prSet presAssocID="{75CD3865-80A4-4549-A221-E47D98ED6197}" presName="spaceRect" presStyleCnt="0"/>
      <dgm:spPr/>
    </dgm:pt>
    <dgm:pt modelId="{C6EEB3BB-C8C5-428E-B5AA-446B59CED18A}" type="pres">
      <dgm:prSet presAssocID="{75CD3865-80A4-4549-A221-E47D98ED6197}" presName="textRect" presStyleLbl="revTx" presStyleIdx="4" presStyleCnt="7">
        <dgm:presLayoutVars>
          <dgm:chMax val="1"/>
          <dgm:chPref val="1"/>
        </dgm:presLayoutVars>
      </dgm:prSet>
      <dgm:spPr/>
    </dgm:pt>
    <dgm:pt modelId="{F662B94B-8D82-44F8-BA15-F488B4C2D709}" type="pres">
      <dgm:prSet presAssocID="{1BEFC509-FE98-4720-8A48-753400D3F23E}" presName="sibTrans" presStyleCnt="0"/>
      <dgm:spPr/>
    </dgm:pt>
    <dgm:pt modelId="{48444D42-214D-42DE-B78C-5385E49237DC}" type="pres">
      <dgm:prSet presAssocID="{743AE223-CE3D-400F-94A2-389081B3A944}" presName="compNode" presStyleCnt="0"/>
      <dgm:spPr/>
    </dgm:pt>
    <dgm:pt modelId="{504D7127-47FD-4EAE-BCC9-141759B1E6F8}" type="pres">
      <dgm:prSet presAssocID="{743AE223-CE3D-400F-94A2-389081B3A944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3D7E5F32-7F1C-4678-9C13-C0ECFA15CA01}" type="pres">
      <dgm:prSet presAssocID="{743AE223-CE3D-400F-94A2-389081B3A944}" presName="spaceRect" presStyleCnt="0"/>
      <dgm:spPr/>
    </dgm:pt>
    <dgm:pt modelId="{C839C4BF-0476-44E0-BAD5-8CDDD22D8BE1}" type="pres">
      <dgm:prSet presAssocID="{743AE223-CE3D-400F-94A2-389081B3A944}" presName="textRect" presStyleLbl="revTx" presStyleIdx="5" presStyleCnt="7">
        <dgm:presLayoutVars>
          <dgm:chMax val="1"/>
          <dgm:chPref val="1"/>
        </dgm:presLayoutVars>
      </dgm:prSet>
      <dgm:spPr/>
    </dgm:pt>
    <dgm:pt modelId="{41314F67-8708-4859-9C00-E1D5D070AA95}" type="pres">
      <dgm:prSet presAssocID="{F67E1E25-084C-4B48-8532-C90695E809B3}" presName="sibTrans" presStyleCnt="0"/>
      <dgm:spPr/>
    </dgm:pt>
    <dgm:pt modelId="{68808C42-3E9A-4501-BC58-9EEDBA297E90}" type="pres">
      <dgm:prSet presAssocID="{1082AEF0-A4DC-4177-A87F-6BD1552BF04B}" presName="compNode" presStyleCnt="0"/>
      <dgm:spPr/>
    </dgm:pt>
    <dgm:pt modelId="{4ADDAB2B-4965-40AF-9A47-779EEA5AD377}" type="pres">
      <dgm:prSet presAssocID="{1082AEF0-A4DC-4177-A87F-6BD1552BF04B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56A774EF-DB49-43C2-8D2F-851B64071279}" type="pres">
      <dgm:prSet presAssocID="{1082AEF0-A4DC-4177-A87F-6BD1552BF04B}" presName="spaceRect" presStyleCnt="0"/>
      <dgm:spPr/>
    </dgm:pt>
    <dgm:pt modelId="{F7669F47-F739-4A18-89E1-47FF6102E284}" type="pres">
      <dgm:prSet presAssocID="{1082AEF0-A4DC-4177-A87F-6BD1552BF04B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8A97F00D-02F3-4475-B085-4CDB8D987A9E}" type="presOf" srcId="{DD40BD2F-22F0-4119-B784-00E798ECF3D4}" destId="{2ED8EEEA-E670-440B-BD95-BDE78444C8A5}" srcOrd="0" destOrd="0" presId="urn:microsoft.com/office/officeart/2018/2/layout/IconLabelList"/>
    <dgm:cxn modelId="{8E939512-DFE5-47A0-B80D-E06A3DECD002}" type="presOf" srcId="{81A4002F-C649-4F1F-9773-296089C0BFA8}" destId="{45B0EADB-5E59-4686-BE7E-76B7AD07189B}" srcOrd="0" destOrd="0" presId="urn:microsoft.com/office/officeart/2018/2/layout/IconLabelList"/>
    <dgm:cxn modelId="{E9C22121-7174-40A9-8CFF-9584BC569EFB}" type="presOf" srcId="{743AE223-CE3D-400F-94A2-389081B3A944}" destId="{C839C4BF-0476-44E0-BAD5-8CDDD22D8BE1}" srcOrd="0" destOrd="0" presId="urn:microsoft.com/office/officeart/2018/2/layout/IconLabelList"/>
    <dgm:cxn modelId="{2AFDA327-BA58-4B09-83AB-FF3E36F60898}" type="presOf" srcId="{9C722DFC-39FE-4CDB-A5B9-F1322488BCC1}" destId="{DE97AD1A-2E7E-4185-AA79-C51E959E91A5}" srcOrd="0" destOrd="0" presId="urn:microsoft.com/office/officeart/2018/2/layout/IconLabelList"/>
    <dgm:cxn modelId="{5982103D-C94C-4503-87BF-5647B93DDE83}" srcId="{964AB524-B864-4D91-BCD7-ABC1B0EEB583}" destId="{9C722DFC-39FE-4CDB-A5B9-F1322488BCC1}" srcOrd="3" destOrd="0" parTransId="{A86106AB-9D8F-452D-90C4-5F42FB6125CF}" sibTransId="{D56585A4-B6D4-44D9-883B-7C538601242F}"/>
    <dgm:cxn modelId="{78219768-2984-4F71-8A4C-16A042451D29}" type="presOf" srcId="{75CD3865-80A4-4549-A221-E47D98ED6197}" destId="{C6EEB3BB-C8C5-428E-B5AA-446B59CED18A}" srcOrd="0" destOrd="0" presId="urn:microsoft.com/office/officeart/2018/2/layout/IconLabelList"/>
    <dgm:cxn modelId="{43C2A548-CACE-4236-B724-CA73926D75A4}" type="presOf" srcId="{964AB524-B864-4D91-BCD7-ABC1B0EEB583}" destId="{7B07C122-A10E-4209-9253-7DAD5007358D}" srcOrd="0" destOrd="0" presId="urn:microsoft.com/office/officeart/2018/2/layout/IconLabelList"/>
    <dgm:cxn modelId="{7C82116B-F254-412D-9707-E3A3717E2BD4}" srcId="{964AB524-B864-4D91-BCD7-ABC1B0EEB583}" destId="{75CD3865-80A4-4549-A221-E47D98ED6197}" srcOrd="4" destOrd="0" parTransId="{A6A3D902-0563-413A-B493-A3B671158F3B}" sibTransId="{1BEFC509-FE98-4720-8A48-753400D3F23E}"/>
    <dgm:cxn modelId="{28CC28A1-37A3-4769-A2E3-11FDFD6F719B}" srcId="{964AB524-B864-4D91-BCD7-ABC1B0EEB583}" destId="{874D5540-E3F2-4F2C-93C5-47E81D4FFB6A}" srcOrd="2" destOrd="0" parTransId="{ECFBB005-33B7-49DE-B566-3ADCB5E58B4C}" sibTransId="{56A3E140-5B12-453C-B3C3-A35131D7D055}"/>
    <dgm:cxn modelId="{10EF08AA-6A60-4C0B-B02A-1ECD729576F0}" type="presOf" srcId="{1082AEF0-A4DC-4177-A87F-6BD1552BF04B}" destId="{F7669F47-F739-4A18-89E1-47FF6102E284}" srcOrd="0" destOrd="0" presId="urn:microsoft.com/office/officeart/2018/2/layout/IconLabelList"/>
    <dgm:cxn modelId="{708467B1-3750-4E7D-B0A2-F06A995E873D}" srcId="{964AB524-B864-4D91-BCD7-ABC1B0EEB583}" destId="{1082AEF0-A4DC-4177-A87F-6BD1552BF04B}" srcOrd="6" destOrd="0" parTransId="{7507312B-6AF5-4E04-BB88-0FB16D7ABD7A}" sibTransId="{3CAF8777-FD8A-4EB2-8391-4B601CB9D70E}"/>
    <dgm:cxn modelId="{0359D2D3-E0C4-474F-822C-F2C3D5EEDFB5}" srcId="{964AB524-B864-4D91-BCD7-ABC1B0EEB583}" destId="{DD40BD2F-22F0-4119-B784-00E798ECF3D4}" srcOrd="0" destOrd="0" parTransId="{41E5D660-7EBB-4358-BDC7-4FA090379210}" sibTransId="{B78B6DD3-20DD-4C50-9B97-096445559005}"/>
    <dgm:cxn modelId="{D82FC2D8-28BC-454C-84A9-8108E0768D05}" srcId="{964AB524-B864-4D91-BCD7-ABC1B0EEB583}" destId="{81A4002F-C649-4F1F-9773-296089C0BFA8}" srcOrd="1" destOrd="0" parTransId="{6F2299F6-D40A-4F0C-9430-D57A8995A805}" sibTransId="{B61E543D-127A-4A74-B340-A7842C479383}"/>
    <dgm:cxn modelId="{31D8BEF6-97A1-40C7-9033-4254B98BACEF}" srcId="{964AB524-B864-4D91-BCD7-ABC1B0EEB583}" destId="{743AE223-CE3D-400F-94A2-389081B3A944}" srcOrd="5" destOrd="0" parTransId="{890F9C2D-D435-45BD-9684-34932503E942}" sibTransId="{F67E1E25-084C-4B48-8532-C90695E809B3}"/>
    <dgm:cxn modelId="{874C79F9-6A90-49D2-AB27-430EB9177F2E}" type="presOf" srcId="{874D5540-E3F2-4F2C-93C5-47E81D4FFB6A}" destId="{AA6DD213-CB47-442C-A03C-5E231154475B}" srcOrd="0" destOrd="0" presId="urn:microsoft.com/office/officeart/2018/2/layout/IconLabelList"/>
    <dgm:cxn modelId="{8F2A58F4-4C74-4161-919F-DFDAD491F4A8}" type="presParOf" srcId="{7B07C122-A10E-4209-9253-7DAD5007358D}" destId="{1623A8C0-39F6-435E-A8EA-4C8E05C37471}" srcOrd="0" destOrd="0" presId="urn:microsoft.com/office/officeart/2018/2/layout/IconLabelList"/>
    <dgm:cxn modelId="{BE70526D-429D-4D34-9071-B566FD80C131}" type="presParOf" srcId="{1623A8C0-39F6-435E-A8EA-4C8E05C37471}" destId="{D9026D2D-66CF-47EB-87EB-7E5995479665}" srcOrd="0" destOrd="0" presId="urn:microsoft.com/office/officeart/2018/2/layout/IconLabelList"/>
    <dgm:cxn modelId="{D4F1FAEC-2658-436D-B9B7-5741C58184FA}" type="presParOf" srcId="{1623A8C0-39F6-435E-A8EA-4C8E05C37471}" destId="{F8441A17-E2EA-4C6F-83A6-062D107E7962}" srcOrd="1" destOrd="0" presId="urn:microsoft.com/office/officeart/2018/2/layout/IconLabelList"/>
    <dgm:cxn modelId="{FB040577-4B2C-4E51-B86E-5210A3A3A974}" type="presParOf" srcId="{1623A8C0-39F6-435E-A8EA-4C8E05C37471}" destId="{2ED8EEEA-E670-440B-BD95-BDE78444C8A5}" srcOrd="2" destOrd="0" presId="urn:microsoft.com/office/officeart/2018/2/layout/IconLabelList"/>
    <dgm:cxn modelId="{2E408AB5-1B18-43A0-B6AC-ACAEB77FE0B6}" type="presParOf" srcId="{7B07C122-A10E-4209-9253-7DAD5007358D}" destId="{846249A6-F505-4886-9D6C-F9B11F8B04BF}" srcOrd="1" destOrd="0" presId="urn:microsoft.com/office/officeart/2018/2/layout/IconLabelList"/>
    <dgm:cxn modelId="{062B95EA-C2D7-4CF7-BE01-4EC743217709}" type="presParOf" srcId="{7B07C122-A10E-4209-9253-7DAD5007358D}" destId="{5F43D20D-80C5-470F-AAD9-1AE042CF08BB}" srcOrd="2" destOrd="0" presId="urn:microsoft.com/office/officeart/2018/2/layout/IconLabelList"/>
    <dgm:cxn modelId="{B1634542-7AD1-4346-B908-E96B6680B9F1}" type="presParOf" srcId="{5F43D20D-80C5-470F-AAD9-1AE042CF08BB}" destId="{8F4B62CB-6998-4F0F-B1A8-073448A61D84}" srcOrd="0" destOrd="0" presId="urn:microsoft.com/office/officeart/2018/2/layout/IconLabelList"/>
    <dgm:cxn modelId="{F399F989-F7A5-41B2-A067-B1218B40DC60}" type="presParOf" srcId="{5F43D20D-80C5-470F-AAD9-1AE042CF08BB}" destId="{0745B307-CA3D-4FCA-A2A3-89028F0DF7F7}" srcOrd="1" destOrd="0" presId="urn:microsoft.com/office/officeart/2018/2/layout/IconLabelList"/>
    <dgm:cxn modelId="{FCC091FF-7CE4-4B2A-9468-713226D10A46}" type="presParOf" srcId="{5F43D20D-80C5-470F-AAD9-1AE042CF08BB}" destId="{45B0EADB-5E59-4686-BE7E-76B7AD07189B}" srcOrd="2" destOrd="0" presId="urn:microsoft.com/office/officeart/2018/2/layout/IconLabelList"/>
    <dgm:cxn modelId="{B46CD1B4-E665-414C-A3A8-3F9601C065C6}" type="presParOf" srcId="{7B07C122-A10E-4209-9253-7DAD5007358D}" destId="{C499D50C-6CDD-408F-BA04-9FA98A18678B}" srcOrd="3" destOrd="0" presId="urn:microsoft.com/office/officeart/2018/2/layout/IconLabelList"/>
    <dgm:cxn modelId="{01DD9924-8019-47BC-BE97-8B9A5712944F}" type="presParOf" srcId="{7B07C122-A10E-4209-9253-7DAD5007358D}" destId="{3D389A4C-DBDC-41FD-89D0-42CC1818D0EF}" srcOrd="4" destOrd="0" presId="urn:microsoft.com/office/officeart/2018/2/layout/IconLabelList"/>
    <dgm:cxn modelId="{6393723D-7A11-4FAF-8139-A2EF550253EE}" type="presParOf" srcId="{3D389A4C-DBDC-41FD-89D0-42CC1818D0EF}" destId="{0D23A21F-3A6A-4E44-A6F9-48B3AA71EAC7}" srcOrd="0" destOrd="0" presId="urn:microsoft.com/office/officeart/2018/2/layout/IconLabelList"/>
    <dgm:cxn modelId="{E74354FE-FE34-4797-92E2-7612BAB033B4}" type="presParOf" srcId="{3D389A4C-DBDC-41FD-89D0-42CC1818D0EF}" destId="{D49866EA-A9F9-4164-AB61-AB7EA89AC551}" srcOrd="1" destOrd="0" presId="urn:microsoft.com/office/officeart/2018/2/layout/IconLabelList"/>
    <dgm:cxn modelId="{28EF3445-0AAF-46FA-9DBD-B528DC01CB5F}" type="presParOf" srcId="{3D389A4C-DBDC-41FD-89D0-42CC1818D0EF}" destId="{AA6DD213-CB47-442C-A03C-5E231154475B}" srcOrd="2" destOrd="0" presId="urn:microsoft.com/office/officeart/2018/2/layout/IconLabelList"/>
    <dgm:cxn modelId="{66440018-EF11-44C7-8505-6D09F0664CDE}" type="presParOf" srcId="{7B07C122-A10E-4209-9253-7DAD5007358D}" destId="{B4416AFA-D0B2-4576-B030-09709D67EEDC}" srcOrd="5" destOrd="0" presId="urn:microsoft.com/office/officeart/2018/2/layout/IconLabelList"/>
    <dgm:cxn modelId="{8F6666D5-A98C-4ECB-8180-DC446F2B73E5}" type="presParOf" srcId="{7B07C122-A10E-4209-9253-7DAD5007358D}" destId="{0859CBF0-38E0-482B-901C-62B2A18B2DAB}" srcOrd="6" destOrd="0" presId="urn:microsoft.com/office/officeart/2018/2/layout/IconLabelList"/>
    <dgm:cxn modelId="{0F7B37A8-5517-4ACA-906B-5D81B41095F4}" type="presParOf" srcId="{0859CBF0-38E0-482B-901C-62B2A18B2DAB}" destId="{93E1A188-50FC-464F-8A98-21B85209EE11}" srcOrd="0" destOrd="0" presId="urn:microsoft.com/office/officeart/2018/2/layout/IconLabelList"/>
    <dgm:cxn modelId="{7D62A89C-17EA-44A5-8761-ADEE511B426D}" type="presParOf" srcId="{0859CBF0-38E0-482B-901C-62B2A18B2DAB}" destId="{8A98C705-70A5-455F-B8E8-E4B2CBA57DA1}" srcOrd="1" destOrd="0" presId="urn:microsoft.com/office/officeart/2018/2/layout/IconLabelList"/>
    <dgm:cxn modelId="{FC96CE3A-0CD8-4ABB-A86B-1CE5055DA9A3}" type="presParOf" srcId="{0859CBF0-38E0-482B-901C-62B2A18B2DAB}" destId="{DE97AD1A-2E7E-4185-AA79-C51E959E91A5}" srcOrd="2" destOrd="0" presId="urn:microsoft.com/office/officeart/2018/2/layout/IconLabelList"/>
    <dgm:cxn modelId="{7303C97F-EEE7-4450-B2EF-79FEB944AF3A}" type="presParOf" srcId="{7B07C122-A10E-4209-9253-7DAD5007358D}" destId="{DCAF58CA-25A8-4EDC-9FBE-ED206B00ED78}" srcOrd="7" destOrd="0" presId="urn:microsoft.com/office/officeart/2018/2/layout/IconLabelList"/>
    <dgm:cxn modelId="{B835847C-B599-44F3-8697-89CDF237F8EE}" type="presParOf" srcId="{7B07C122-A10E-4209-9253-7DAD5007358D}" destId="{CBC15C8E-7C21-44EE-893D-B99B01C5F70B}" srcOrd="8" destOrd="0" presId="urn:microsoft.com/office/officeart/2018/2/layout/IconLabelList"/>
    <dgm:cxn modelId="{3783536C-CCFE-4DA7-9806-6CE7BE51373F}" type="presParOf" srcId="{CBC15C8E-7C21-44EE-893D-B99B01C5F70B}" destId="{0B0289F2-A9DA-4431-9FD1-4273164B930B}" srcOrd="0" destOrd="0" presId="urn:microsoft.com/office/officeart/2018/2/layout/IconLabelList"/>
    <dgm:cxn modelId="{5FAC1542-E99E-40E6-B2AD-90AC602091B9}" type="presParOf" srcId="{CBC15C8E-7C21-44EE-893D-B99B01C5F70B}" destId="{B02A651A-A29C-4F3B-A5F7-6FAD8F95CC63}" srcOrd="1" destOrd="0" presId="urn:microsoft.com/office/officeart/2018/2/layout/IconLabelList"/>
    <dgm:cxn modelId="{553BCA17-364B-41C7-82E9-977E9BA8ACBF}" type="presParOf" srcId="{CBC15C8E-7C21-44EE-893D-B99B01C5F70B}" destId="{C6EEB3BB-C8C5-428E-B5AA-446B59CED18A}" srcOrd="2" destOrd="0" presId="urn:microsoft.com/office/officeart/2018/2/layout/IconLabelList"/>
    <dgm:cxn modelId="{8E4454E7-A22F-4F0F-B4C0-47D450EF14AB}" type="presParOf" srcId="{7B07C122-A10E-4209-9253-7DAD5007358D}" destId="{F662B94B-8D82-44F8-BA15-F488B4C2D709}" srcOrd="9" destOrd="0" presId="urn:microsoft.com/office/officeart/2018/2/layout/IconLabelList"/>
    <dgm:cxn modelId="{698F80AB-BD05-4835-B567-8B3B94AE4218}" type="presParOf" srcId="{7B07C122-A10E-4209-9253-7DAD5007358D}" destId="{48444D42-214D-42DE-B78C-5385E49237DC}" srcOrd="10" destOrd="0" presId="urn:microsoft.com/office/officeart/2018/2/layout/IconLabelList"/>
    <dgm:cxn modelId="{E5D01BDD-8AAC-4757-9EFF-39F16057B01A}" type="presParOf" srcId="{48444D42-214D-42DE-B78C-5385E49237DC}" destId="{504D7127-47FD-4EAE-BCC9-141759B1E6F8}" srcOrd="0" destOrd="0" presId="urn:microsoft.com/office/officeart/2018/2/layout/IconLabelList"/>
    <dgm:cxn modelId="{810058A1-733B-401E-B438-BAB878F520C7}" type="presParOf" srcId="{48444D42-214D-42DE-B78C-5385E49237DC}" destId="{3D7E5F32-7F1C-4678-9C13-C0ECFA15CA01}" srcOrd="1" destOrd="0" presId="urn:microsoft.com/office/officeart/2018/2/layout/IconLabelList"/>
    <dgm:cxn modelId="{78182061-3742-4731-90DC-E03CAE6A0828}" type="presParOf" srcId="{48444D42-214D-42DE-B78C-5385E49237DC}" destId="{C839C4BF-0476-44E0-BAD5-8CDDD22D8BE1}" srcOrd="2" destOrd="0" presId="urn:microsoft.com/office/officeart/2018/2/layout/IconLabelList"/>
    <dgm:cxn modelId="{9260D361-2B6A-49BF-8505-6D32520A5E5E}" type="presParOf" srcId="{7B07C122-A10E-4209-9253-7DAD5007358D}" destId="{41314F67-8708-4859-9C00-E1D5D070AA95}" srcOrd="11" destOrd="0" presId="urn:microsoft.com/office/officeart/2018/2/layout/IconLabelList"/>
    <dgm:cxn modelId="{D8C921D4-681F-48A0-8BB1-F4C480533E93}" type="presParOf" srcId="{7B07C122-A10E-4209-9253-7DAD5007358D}" destId="{68808C42-3E9A-4501-BC58-9EEDBA297E90}" srcOrd="12" destOrd="0" presId="urn:microsoft.com/office/officeart/2018/2/layout/IconLabelList"/>
    <dgm:cxn modelId="{BFF69333-077E-4AEB-A42C-62BDE878D31D}" type="presParOf" srcId="{68808C42-3E9A-4501-BC58-9EEDBA297E90}" destId="{4ADDAB2B-4965-40AF-9A47-779EEA5AD377}" srcOrd="0" destOrd="0" presId="urn:microsoft.com/office/officeart/2018/2/layout/IconLabelList"/>
    <dgm:cxn modelId="{7647EC45-73F4-4F7E-8099-CF30DCAA91C4}" type="presParOf" srcId="{68808C42-3E9A-4501-BC58-9EEDBA297E90}" destId="{56A774EF-DB49-43C2-8D2F-851B64071279}" srcOrd="1" destOrd="0" presId="urn:microsoft.com/office/officeart/2018/2/layout/IconLabelList"/>
    <dgm:cxn modelId="{705D266C-99D5-477A-BE43-463C93E99C98}" type="presParOf" srcId="{68808C42-3E9A-4501-BC58-9EEDBA297E90}" destId="{F7669F47-F739-4A18-89E1-47FF6102E28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026D2D-66CF-47EB-87EB-7E5995479665}">
      <dsp:nvSpPr>
        <dsp:cNvPr id="0" name=""/>
        <dsp:cNvSpPr/>
      </dsp:nvSpPr>
      <dsp:spPr>
        <a:xfrm>
          <a:off x="440669" y="556698"/>
          <a:ext cx="715078" cy="71507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D8EEEA-E670-440B-BD95-BDE78444C8A5}">
      <dsp:nvSpPr>
        <dsp:cNvPr id="0" name=""/>
        <dsp:cNvSpPr/>
      </dsp:nvSpPr>
      <dsp:spPr>
        <a:xfrm>
          <a:off x="3677" y="1596884"/>
          <a:ext cx="1589062" cy="913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Most studies </a:t>
          </a:r>
          <a:r>
            <a:rPr lang="en-US" sz="1100" b="1" kern="1200"/>
            <a:t>focus on domain-specific chatbots</a:t>
          </a:r>
          <a:r>
            <a:rPr lang="en-US" sz="1100" kern="1200"/>
            <a:t> (education, management, SMEs) rather than </a:t>
          </a:r>
          <a:r>
            <a:rPr lang="en-US" sz="1100" b="1" kern="1200"/>
            <a:t>general-purpose PDF interaction systems</a:t>
          </a:r>
          <a:r>
            <a:rPr lang="en-US" sz="1100" kern="1200"/>
            <a:t>.</a:t>
          </a:r>
        </a:p>
      </dsp:txBody>
      <dsp:txXfrm>
        <a:off x="3677" y="1596884"/>
        <a:ext cx="1589062" cy="913710"/>
      </dsp:txXfrm>
    </dsp:sp>
    <dsp:sp modelId="{8F4B62CB-6998-4F0F-B1A8-073448A61D84}">
      <dsp:nvSpPr>
        <dsp:cNvPr id="0" name=""/>
        <dsp:cNvSpPr/>
      </dsp:nvSpPr>
      <dsp:spPr>
        <a:xfrm>
          <a:off x="2307818" y="556698"/>
          <a:ext cx="715078" cy="71507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B0EADB-5E59-4686-BE7E-76B7AD07189B}">
      <dsp:nvSpPr>
        <dsp:cNvPr id="0" name=""/>
        <dsp:cNvSpPr/>
      </dsp:nvSpPr>
      <dsp:spPr>
        <a:xfrm>
          <a:off x="1870826" y="1596884"/>
          <a:ext cx="1589062" cy="913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Limited work on </a:t>
          </a:r>
          <a:r>
            <a:rPr lang="en-US" sz="1100" b="1" kern="1200"/>
            <a:t>semantic understanding and vector-based retrieval</a:t>
          </a:r>
          <a:r>
            <a:rPr lang="en-US" sz="1100" kern="1200"/>
            <a:t> for unstructured document data.</a:t>
          </a:r>
        </a:p>
      </dsp:txBody>
      <dsp:txXfrm>
        <a:off x="1870826" y="1596884"/>
        <a:ext cx="1589062" cy="913710"/>
      </dsp:txXfrm>
    </dsp:sp>
    <dsp:sp modelId="{0D23A21F-3A6A-4E44-A6F9-48B3AA71EAC7}">
      <dsp:nvSpPr>
        <dsp:cNvPr id="0" name=""/>
        <dsp:cNvSpPr/>
      </dsp:nvSpPr>
      <dsp:spPr>
        <a:xfrm>
          <a:off x="4174966" y="556698"/>
          <a:ext cx="715078" cy="71507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6DD213-CB47-442C-A03C-5E231154475B}">
      <dsp:nvSpPr>
        <dsp:cNvPr id="0" name=""/>
        <dsp:cNvSpPr/>
      </dsp:nvSpPr>
      <dsp:spPr>
        <a:xfrm>
          <a:off x="3737974" y="1596884"/>
          <a:ext cx="1589062" cy="913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Few integrations of retrieval and generative models</a:t>
          </a:r>
          <a:r>
            <a:rPr lang="en-US" sz="1100" kern="1200"/>
            <a:t> in a unified, end-to-end framework.</a:t>
          </a:r>
        </a:p>
      </dsp:txBody>
      <dsp:txXfrm>
        <a:off x="3737974" y="1596884"/>
        <a:ext cx="1589062" cy="913710"/>
      </dsp:txXfrm>
    </dsp:sp>
    <dsp:sp modelId="{93E1A188-50FC-464F-8A98-21B85209EE11}">
      <dsp:nvSpPr>
        <dsp:cNvPr id="0" name=""/>
        <dsp:cNvSpPr/>
      </dsp:nvSpPr>
      <dsp:spPr>
        <a:xfrm>
          <a:off x="6042115" y="556698"/>
          <a:ext cx="715078" cy="71507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97AD1A-2E7E-4185-AA79-C51E959E91A5}">
      <dsp:nvSpPr>
        <dsp:cNvPr id="0" name=""/>
        <dsp:cNvSpPr/>
      </dsp:nvSpPr>
      <dsp:spPr>
        <a:xfrm>
          <a:off x="5605122" y="1596884"/>
          <a:ext cx="1589062" cy="913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Existing systems </a:t>
          </a:r>
          <a:r>
            <a:rPr lang="en-US" sz="1100" b="1" kern="1200"/>
            <a:t>lack multimodal capabilities</a:t>
          </a:r>
          <a:r>
            <a:rPr lang="en-US" sz="1100" kern="1200"/>
            <a:t> (cannot process diagrams, images, or scanned PDFs).</a:t>
          </a:r>
        </a:p>
      </dsp:txBody>
      <dsp:txXfrm>
        <a:off x="5605122" y="1596884"/>
        <a:ext cx="1589062" cy="913710"/>
      </dsp:txXfrm>
    </dsp:sp>
    <dsp:sp modelId="{0B0289F2-A9DA-4431-9FD1-4273164B930B}">
      <dsp:nvSpPr>
        <dsp:cNvPr id="0" name=""/>
        <dsp:cNvSpPr/>
      </dsp:nvSpPr>
      <dsp:spPr>
        <a:xfrm>
          <a:off x="7909263" y="556698"/>
          <a:ext cx="715078" cy="71507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EEB3BB-C8C5-428E-B5AA-446B59CED18A}">
      <dsp:nvSpPr>
        <dsp:cNvPr id="0" name=""/>
        <dsp:cNvSpPr/>
      </dsp:nvSpPr>
      <dsp:spPr>
        <a:xfrm>
          <a:off x="7472271" y="1596884"/>
          <a:ext cx="1589062" cy="913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Evaluation often limited to surveys or user perception</a:t>
          </a:r>
          <a:r>
            <a:rPr lang="en-US" sz="1100" kern="1200"/>
            <a:t>, not robust technical performance metrics.</a:t>
          </a:r>
        </a:p>
      </dsp:txBody>
      <dsp:txXfrm>
        <a:off x="7472271" y="1596884"/>
        <a:ext cx="1589062" cy="913710"/>
      </dsp:txXfrm>
    </dsp:sp>
    <dsp:sp modelId="{504D7127-47FD-4EAE-BCC9-141759B1E6F8}">
      <dsp:nvSpPr>
        <dsp:cNvPr id="0" name=""/>
        <dsp:cNvSpPr/>
      </dsp:nvSpPr>
      <dsp:spPr>
        <a:xfrm>
          <a:off x="9776412" y="556698"/>
          <a:ext cx="715078" cy="71507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39C4BF-0476-44E0-BAD5-8CDDD22D8BE1}">
      <dsp:nvSpPr>
        <dsp:cNvPr id="0" name=""/>
        <dsp:cNvSpPr/>
      </dsp:nvSpPr>
      <dsp:spPr>
        <a:xfrm>
          <a:off x="9339419" y="1596884"/>
          <a:ext cx="1589062" cy="913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Scalability and real-time response optimization</a:t>
          </a:r>
          <a:r>
            <a:rPr lang="en-US" sz="1100" kern="1200"/>
            <a:t> remain unresolved in large document processing.</a:t>
          </a:r>
        </a:p>
      </dsp:txBody>
      <dsp:txXfrm>
        <a:off x="9339419" y="1596884"/>
        <a:ext cx="1589062" cy="913710"/>
      </dsp:txXfrm>
    </dsp:sp>
    <dsp:sp modelId="{4ADDAB2B-4965-40AF-9A47-779EEA5AD377}">
      <dsp:nvSpPr>
        <dsp:cNvPr id="0" name=""/>
        <dsp:cNvSpPr/>
      </dsp:nvSpPr>
      <dsp:spPr>
        <a:xfrm>
          <a:off x="5108540" y="2907860"/>
          <a:ext cx="715078" cy="715078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669F47-F739-4A18-89E1-47FF6102E284}">
      <dsp:nvSpPr>
        <dsp:cNvPr id="0" name=""/>
        <dsp:cNvSpPr/>
      </dsp:nvSpPr>
      <dsp:spPr>
        <a:xfrm>
          <a:off x="4671548" y="3948046"/>
          <a:ext cx="1589062" cy="913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Minimal research on </a:t>
          </a:r>
          <a:r>
            <a:rPr lang="en-US" sz="1100" b="1" kern="1200"/>
            <a:t>reducing hallucination</a:t>
          </a:r>
          <a:r>
            <a:rPr lang="en-US" sz="1100" kern="1200"/>
            <a:t> and improving factual accuracy in LLM-based chatbots.</a:t>
          </a:r>
        </a:p>
      </dsp:txBody>
      <dsp:txXfrm>
        <a:off x="4671548" y="3948046"/>
        <a:ext cx="1589062" cy="9137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F2AA88-8CF7-48D0-84C8-F8025BD5B059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226C82-54A3-471D-9E05-4926F243E9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773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26C82-54A3-471D-9E05-4926F243E95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2611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26C82-54A3-471D-9E05-4926F243E95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0782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26C82-54A3-471D-9E05-4926F243E95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0379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26C82-54A3-471D-9E05-4926F243E95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4369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26C82-54A3-471D-9E05-4926F243E95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79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6E65D-481D-EFD6-5397-EEE8820AE7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B2306A-8AE6-ACE3-9C6A-2EA3FFDD5D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4B2E0-E7AA-B7F0-D131-06A993C6A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11/9/2025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4F472-E57F-A25F-F150-66AD02C3B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No.1               Batch No.DB-5 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33757-8AEA-FC6B-3AEB-DC829F87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760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AA690-33BD-8CC7-B353-528DEC091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6DAA8-F60E-613F-2962-75B98E094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8F374-7A41-A7FB-52E2-6C7ED8873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11/9/2025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7AFAA-CB27-8D76-484B-69EB5569E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No.1               Batch No.DB-5 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B8201-E870-4A33-AC46-1241EAC3C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718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67F14-E7DC-2A0C-499E-14C204B88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EB44A5-1843-62B8-D296-075A1F941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92532-4669-3DF2-3875-AA5DEC1C3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11/9/2025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5330D-BBF6-B029-F9BB-0D3A02CB3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No.1               Batch No.DB-5 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D155F-611F-52E2-344D-E0EF36B5C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886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B36F0-1D62-7658-0957-117148B70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D2D94-1199-B8F1-4717-FDB9B79E41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5DCD4-2ED1-95BC-7252-EB4AA98FDC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5F9DD8-CA28-5AFC-E8A8-66A25DBC1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11/9/2025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BC9873-9DA5-B236-ED9A-0424AC976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No.1               Batch No.DB-5 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2D9E83-962D-FA41-F0B8-F75B00B22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590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97C6-DD07-5682-B2D9-B34D7072D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D8245F-5FDD-6F69-13C1-D46541FDD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042405-16ED-5266-06D0-B047EF9472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1C49DB-C287-D41E-BE0C-04B3D3F3E5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F6BF68-BD8B-DE28-C324-CC984FD886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E3BAA6-36AA-18E1-FE9B-43B774BB7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11/9/2025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0DAB74-ADDD-38C7-5667-11BFC1D25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No.1               Batch No.DB-5 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2922A7-8D5C-CFA7-0373-A73800B6A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4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13B52-9278-2825-9739-7E2185D6F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13DAF5-DF69-F7B1-66BD-94A094E08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11/9/2025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3149D2-F47E-A288-E9AB-099268FC8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No.1               Batch No.DB-5            Department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4BC427-C51E-8AB1-A7C5-4270E225E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67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AE567A-2DEE-4359-FF4F-3D16BE34F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11/9/2025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E65C25-DD96-91A1-1565-F58DD14FE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No.1               Batch No.DB-5 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C364BF-B5D1-9308-769D-46F484FC6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104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C59BB-9F81-00DA-BE10-4DBB44E08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52879-1D69-517F-4C2C-C046FBBDF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A62B17-03BD-7CDC-49C9-4A9BCEDD4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D72450-4CF4-7B16-9A41-EAEB12BA0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11/9/2025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6A1679-E378-394D-9B1B-429F16477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No.1               Batch No.DB-5 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3CB630-9D3A-DFE2-5FC4-86451D102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843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042D0-B59B-DED5-203A-7DB708126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F2CC38-4C59-7096-6A12-745F43361A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19F5F6-266E-60E7-F6B9-D8BA03308D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FB2636-2C79-545C-5D4F-720F7526F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11/9/2025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DEF5BA-B40F-C49C-5D14-790EACA12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No.1               Batch No.DB-5 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1B6633-4F09-2C1C-263C-04F6E09B6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32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9869C-B61E-3CA6-EC51-17873EFE7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181E51-42DC-7911-D6C7-CBADEEFDBD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FE589-2EA9-D2A5-784C-BB8EC4D66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11/9/2025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A984F-CE2F-5E9E-A3B3-BA2053CEC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No.1               Batch No.DB-5 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2DFAF-8121-FD16-84A9-3891E4126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596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0C7DDA-D8DF-6370-EC40-1CFE2FD03F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FBD32C-DA03-62A5-955B-BCAC7FA1D9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56135-36F5-608F-04F2-DBA1ED017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11/9/2025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90E82-ACDA-E690-75E1-A5EA20DE8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No.1               Batch No.DB-5 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8144E-DEC9-533B-9488-E2320DC47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474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A9A2D4-1CA8-ECC8-32C7-293E52520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8F82C7-D772-415D-DAE1-0FA9A007B3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3A8F0-CEDB-CA6C-6DDC-B3686E151E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499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11/9/2025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C69CF-4862-EE73-DC16-DA59068E6A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20247" y="6356349"/>
            <a:ext cx="42331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Review No.1               Batch No.DB-5 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7E15C-1CC7-67CC-5F74-C50F1E2D6A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82C8B7-D441-41F7-9F8A-3B05A8FD0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283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ieeexplore.ieee.org/document/9712254" TargetMode="External"/><Relationship Id="rId5" Type="http://schemas.openxmlformats.org/officeDocument/2006/relationships/hyperlink" Target="Presentation1.pptx" TargetMode="External"/><Relationship Id="rId4" Type="http://schemas.openxmlformats.org/officeDocument/2006/relationships/hyperlink" Target="https://ieeexplore.ieee.org/document/10912498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 up of a logo&#10;&#10;AI-generated content may be incorrect.">
            <a:extLst>
              <a:ext uri="{FF2B5EF4-FFF2-40B4-BE49-F238E27FC236}">
                <a16:creationId xmlns:a16="http://schemas.microsoft.com/office/drawing/2014/main" id="{74C78683-5508-FBCD-60B9-41D06AA198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3989200" cy="71775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0BF854F-EBA5-B00F-DD25-BD1FE3FF797E}"/>
              </a:ext>
            </a:extLst>
          </p:cNvPr>
          <p:cNvSpPr txBox="1"/>
          <p:nvPr/>
        </p:nvSpPr>
        <p:spPr>
          <a:xfrm>
            <a:off x="2861187" y="717755"/>
            <a:ext cx="77576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BE8444-895C-AF5C-81C4-38869A091E71}"/>
              </a:ext>
            </a:extLst>
          </p:cNvPr>
          <p:cNvSpPr txBox="1"/>
          <p:nvPr/>
        </p:nvSpPr>
        <p:spPr>
          <a:xfrm>
            <a:off x="5337463" y="2103688"/>
            <a:ext cx="21855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55C460-8FA0-3281-180E-BC8A7CBD0B54}"/>
              </a:ext>
            </a:extLst>
          </p:cNvPr>
          <p:cNvSpPr txBox="1"/>
          <p:nvPr/>
        </p:nvSpPr>
        <p:spPr>
          <a:xfrm>
            <a:off x="117987" y="1240976"/>
            <a:ext cx="12192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An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Interactive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PDF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Chatbot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Using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Semantic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Embeddings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and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FAISS-Based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Vector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Search</a:t>
            </a: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38E780-CFEF-7E08-6C80-5FB60EAFD0EF}"/>
              </a:ext>
            </a:extLst>
          </p:cNvPr>
          <p:cNvSpPr txBox="1"/>
          <p:nvPr/>
        </p:nvSpPr>
        <p:spPr>
          <a:xfrm>
            <a:off x="3214058" y="2470099"/>
            <a:ext cx="28819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DUDDU SATISH BABU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B3503E-0226-6D0C-1A22-3B9BA93FA661}"/>
              </a:ext>
            </a:extLst>
          </p:cNvPr>
          <p:cNvSpPr txBox="1"/>
          <p:nvPr/>
        </p:nvSpPr>
        <p:spPr>
          <a:xfrm>
            <a:off x="7434692" y="2452730"/>
            <a:ext cx="1704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22471A05M0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C38405-F5F0-D3A5-20A6-59486F1C3E19}"/>
              </a:ext>
            </a:extLst>
          </p:cNvPr>
          <p:cNvSpPr txBox="1"/>
          <p:nvPr/>
        </p:nvSpPr>
        <p:spPr>
          <a:xfrm>
            <a:off x="2084439" y="2826207"/>
            <a:ext cx="51422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KOPPURAVURI V S N S S ASHOK KUMAR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43D00B-74A1-557F-D692-F5A6862FA869}"/>
              </a:ext>
            </a:extLst>
          </p:cNvPr>
          <p:cNvSpPr txBox="1"/>
          <p:nvPr/>
        </p:nvSpPr>
        <p:spPr>
          <a:xfrm>
            <a:off x="7416499" y="2782993"/>
            <a:ext cx="20054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22741A05M8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A475E6-90EC-A2AE-7FE7-02CFE40CA82C}"/>
              </a:ext>
            </a:extLst>
          </p:cNvPr>
          <p:cNvSpPr txBox="1"/>
          <p:nvPr/>
        </p:nvSpPr>
        <p:spPr>
          <a:xfrm>
            <a:off x="2703539" y="3202563"/>
            <a:ext cx="39936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RAJABOINA CHANDRASEKHAR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AB48A7-63AB-283A-BBD5-D66C935C769D}"/>
              </a:ext>
            </a:extLst>
          </p:cNvPr>
          <p:cNvSpPr txBox="1"/>
          <p:nvPr/>
        </p:nvSpPr>
        <p:spPr>
          <a:xfrm>
            <a:off x="7434692" y="3163484"/>
            <a:ext cx="18279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21471A05Q2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CBFC84-FF9C-9712-6BF1-CD72E33FD835}"/>
              </a:ext>
            </a:extLst>
          </p:cNvPr>
          <p:cNvSpPr txBox="1"/>
          <p:nvPr/>
        </p:nvSpPr>
        <p:spPr>
          <a:xfrm>
            <a:off x="4898185" y="3660673"/>
            <a:ext cx="306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of,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DA18A4-5EB8-3848-3ECB-DF30414F64A3}"/>
              </a:ext>
            </a:extLst>
          </p:cNvPr>
          <p:cNvSpPr txBox="1"/>
          <p:nvPr/>
        </p:nvSpPr>
        <p:spPr>
          <a:xfrm>
            <a:off x="4589190" y="4180338"/>
            <a:ext cx="4048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SYED RIZWANA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2DA3F1-976D-573B-AD65-0F22733102A1}"/>
              </a:ext>
            </a:extLst>
          </p:cNvPr>
          <p:cNvSpPr txBox="1"/>
          <p:nvPr/>
        </p:nvSpPr>
        <p:spPr>
          <a:xfrm>
            <a:off x="7795111" y="4277908"/>
            <a:ext cx="1736831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baseline="-250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M.Tech</a:t>
            </a:r>
            <a:r>
              <a:rPr lang="en-US" sz="2000" b="1" baseline="-25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,(P.HD)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EE2CE0-50A3-D1D3-0C73-0756E648893C}"/>
              </a:ext>
            </a:extLst>
          </p:cNvPr>
          <p:cNvSpPr txBox="1"/>
          <p:nvPr/>
        </p:nvSpPr>
        <p:spPr>
          <a:xfrm>
            <a:off x="5337463" y="4738254"/>
            <a:ext cx="23379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E2B848-DCDB-D416-AED4-8286FB7B4314}"/>
              </a:ext>
            </a:extLst>
          </p:cNvPr>
          <p:cNvSpPr txBox="1"/>
          <p:nvPr/>
        </p:nvSpPr>
        <p:spPr>
          <a:xfrm>
            <a:off x="4196788" y="5117074"/>
            <a:ext cx="53316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Engineering,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240234-6EB3-0F1C-E22B-993C8A6576E2}"/>
              </a:ext>
            </a:extLst>
          </p:cNvPr>
          <p:cNvSpPr txBox="1"/>
          <p:nvPr/>
        </p:nvSpPr>
        <p:spPr>
          <a:xfrm>
            <a:off x="4301834" y="5546751"/>
            <a:ext cx="5381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Narasaraopeta Engineering College (Autonomous),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7BE3DD-7E26-F26A-5F50-57605E969C97}"/>
              </a:ext>
            </a:extLst>
          </p:cNvPr>
          <p:cNvSpPr txBox="1"/>
          <p:nvPr/>
        </p:nvSpPr>
        <p:spPr>
          <a:xfrm>
            <a:off x="5281167" y="5971738"/>
            <a:ext cx="3138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Narasaraopet- 522 601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9" name="Date Placeholder 28">
            <a:extLst>
              <a:ext uri="{FF2B5EF4-FFF2-40B4-BE49-F238E27FC236}">
                <a16:creationId xmlns:a16="http://schemas.microsoft.com/office/drawing/2014/main" id="{C2418B4D-72AE-BB50-6D33-C7C2AFE654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11/9/2025</a:t>
            </a:r>
          </a:p>
        </p:txBody>
      </p:sp>
      <p:sp>
        <p:nvSpPr>
          <p:cNvPr id="30" name="Footer Placeholder 29">
            <a:extLst>
              <a:ext uri="{FF2B5EF4-FFF2-40B4-BE49-F238E27FC236}">
                <a16:creationId xmlns:a16="http://schemas.microsoft.com/office/drawing/2014/main" id="{8954BBBF-F860-18F4-889F-9E4495FD3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332131" cy="365125"/>
          </a:xfrm>
        </p:spPr>
        <p:txBody>
          <a:bodyPr/>
          <a:lstStyle/>
          <a:p>
            <a:r>
              <a:rPr lang="en-US" dirty="0"/>
              <a:t>Review No.1               Batch No.DB-16           Department of CSE</a:t>
            </a:r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0305C54D-FDA5-ACA3-D5D0-F89A19B67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525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logo&#10;&#10;AI-generated content may be incorrect.">
            <a:extLst>
              <a:ext uri="{FF2B5EF4-FFF2-40B4-BE49-F238E27FC236}">
                <a16:creationId xmlns:a16="http://schemas.microsoft.com/office/drawing/2014/main" id="{384C9E75-88A7-093E-5F8C-7E55C85FF3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E643FE-E86A-48C0-E629-58D2F655C88B}"/>
              </a:ext>
            </a:extLst>
          </p:cNvPr>
          <p:cNvSpPr txBox="1"/>
          <p:nvPr/>
        </p:nvSpPr>
        <p:spPr>
          <a:xfrm>
            <a:off x="5056909" y="717754"/>
            <a:ext cx="20781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32253A-0E4F-F82B-2129-840F46E44552}"/>
              </a:ext>
            </a:extLst>
          </p:cNvPr>
          <p:cNvSpPr txBox="1"/>
          <p:nvPr/>
        </p:nvSpPr>
        <p:spPr>
          <a:xfrm>
            <a:off x="457200" y="1475509"/>
            <a:ext cx="360564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Abstract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Introduction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Literature Survey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Research Gaps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Problem Statement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Objectives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Block Diagram / Flow Diagram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Methodology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Implementation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Results and Analysis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Conclusion &amp; Future Scope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References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 Question and Answers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14. Acknowledgements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9302F32C-7186-2A64-3AD6-89086EA4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11/9/2025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55950FAE-28D6-49FF-6B35-5A332B7B9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211782" cy="365125"/>
          </a:xfrm>
        </p:spPr>
        <p:txBody>
          <a:bodyPr/>
          <a:lstStyle/>
          <a:p>
            <a:r>
              <a:rPr lang="en-US" dirty="0"/>
              <a:t>Review No.1               Batch No.DB-16            Department of CSE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4DE92F8-24AA-31F1-1618-9E73FC140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647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257299E7-BBE0-1F67-51FD-56D1FE9D25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FD3694-7B4A-CEBF-2965-BC8D528CE8AB}"/>
              </a:ext>
            </a:extLst>
          </p:cNvPr>
          <p:cNvSpPr txBox="1"/>
          <p:nvPr/>
        </p:nvSpPr>
        <p:spPr>
          <a:xfrm>
            <a:off x="5025736" y="718535"/>
            <a:ext cx="214052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806548-A70B-8F54-A983-1815938D7E48}"/>
              </a:ext>
            </a:extLst>
          </p:cNvPr>
          <p:cNvSpPr txBox="1"/>
          <p:nvPr/>
        </p:nvSpPr>
        <p:spPr>
          <a:xfrm>
            <a:off x="596417" y="1179418"/>
            <a:ext cx="362642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of the project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550166-DEB3-7D87-250A-2BA8AAD06E0D}"/>
              </a:ext>
            </a:extLst>
          </p:cNvPr>
          <p:cNvSpPr txBox="1"/>
          <p:nvPr/>
        </p:nvSpPr>
        <p:spPr>
          <a:xfrm>
            <a:off x="1361098" y="1718418"/>
            <a:ext cx="993393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growth of digital PDFs demands intelligent, semantic retrieval.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 search fails to capture contextual meaning.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Proposed chatbot enables </a:t>
            </a:r>
            <a:r>
              <a:rPr lang="en-US" sz="2000" b="1" dirty="0"/>
              <a:t>natural-language queries</a:t>
            </a:r>
            <a:r>
              <a:rPr lang="en-US" sz="2000" dirty="0"/>
              <a:t> on uploaded PDFs.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Sentence-BERT embeddings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FAISS similarity search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FLAN-T5-XL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generative answers.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Outperforms keyword-based systems in accuracy and contextual relevance.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as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easy interaction.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634DD542-4E01-75E9-F03E-38BA8B6D50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11/9/2025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81DAC419-94A2-CC34-A757-0219D1085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211782" cy="365125"/>
          </a:xfrm>
        </p:spPr>
        <p:txBody>
          <a:bodyPr/>
          <a:lstStyle/>
          <a:p>
            <a:r>
              <a:rPr lang="en-US" dirty="0"/>
              <a:t>Review No.1               Batch No.DB-16          Department of CSE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35BA1CC1-6777-0367-AB55-FD3A3973E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035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E267BCB5-6CC8-0C61-5F63-B4B6183819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4BA864-53C8-D107-AC03-23BCDBD81664}"/>
              </a:ext>
            </a:extLst>
          </p:cNvPr>
          <p:cNvSpPr txBox="1"/>
          <p:nvPr/>
        </p:nvSpPr>
        <p:spPr>
          <a:xfrm>
            <a:off x="4655128" y="718535"/>
            <a:ext cx="31380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FFC04B-B41D-1DF8-1A06-CB033CC4CAD8}"/>
              </a:ext>
            </a:extLst>
          </p:cNvPr>
          <p:cNvSpPr txBox="1"/>
          <p:nvPr/>
        </p:nvSpPr>
        <p:spPr>
          <a:xfrm>
            <a:off x="768926" y="1358976"/>
            <a:ext cx="4468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 introduction to the project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CEE39B-402F-BEA2-E3F8-48896ABBDBEB}"/>
              </a:ext>
            </a:extLst>
          </p:cNvPr>
          <p:cNvSpPr txBox="1"/>
          <p:nvPr/>
        </p:nvSpPr>
        <p:spPr>
          <a:xfrm>
            <a:off x="1839191" y="1862448"/>
            <a:ext cx="91232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PDFs are widely used but hard to search effectively.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 search gives incomplete or irrelevant results.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chatbot enables natural-language querying of PDFs using 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6F3241-47AD-8C97-8765-270A0B3F480D}"/>
              </a:ext>
            </a:extLst>
          </p:cNvPr>
          <p:cNvSpPr txBox="1"/>
          <p:nvPr/>
        </p:nvSpPr>
        <p:spPr>
          <a:xfrm>
            <a:off x="838200" y="2962664"/>
            <a:ext cx="42394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behind the project</a:t>
            </a:r>
          </a:p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2B4D1B-514C-432A-D137-66F9528EF0D3}"/>
              </a:ext>
            </a:extLst>
          </p:cNvPr>
          <p:cNvSpPr txBox="1"/>
          <p:nvPr/>
        </p:nvSpPr>
        <p:spPr>
          <a:xfrm>
            <a:off x="1426236" y="3466134"/>
            <a:ext cx="89678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document search simple and intelligent.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Overcome limits of keyword-based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NLP and LLMs for smarter, context-aware retrieval</a:t>
            </a:r>
            <a:r>
              <a:rPr lang="en-US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17BF83-5111-291F-5676-DFDBCD072225}"/>
              </a:ext>
            </a:extLst>
          </p:cNvPr>
          <p:cNvSpPr txBox="1"/>
          <p:nvPr/>
        </p:nvSpPr>
        <p:spPr>
          <a:xfrm>
            <a:off x="768926" y="4523602"/>
            <a:ext cx="38238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and relevance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0809B8-4CAB-F32E-5092-ABE0DBF960E1}"/>
              </a:ext>
            </a:extLst>
          </p:cNvPr>
          <p:cNvSpPr txBox="1"/>
          <p:nvPr/>
        </p:nvSpPr>
        <p:spPr>
          <a:xfrm>
            <a:off x="1836494" y="5037359"/>
            <a:ext cx="91232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time for researchers and professionals.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accurate, conversational answers from PDFs.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next-gen human–computer interaction.</a:t>
            </a:r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05231668-3AB9-FD0C-1B1E-8D211063FA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11/9/2025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4D12F140-2A4E-8428-1211-A4E501073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253345" cy="365125"/>
          </a:xfrm>
        </p:spPr>
        <p:txBody>
          <a:bodyPr/>
          <a:lstStyle/>
          <a:p>
            <a:r>
              <a:rPr lang="en-US" dirty="0"/>
              <a:t>Review No.1               Batch No.DB-16           Department of CSE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8AE4DD1F-65C0-336E-BABF-3779197A4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4</a:t>
            </a:fld>
            <a:endParaRPr 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973D848D-E4E8-9DAD-ED31-9F915FA44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44198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Saves time for researchers and professionals.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7746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2CA5E011-55F0-1D75-F4EE-15691D0502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9B102E-02D4-12C7-EFC6-491EE6F88A20}"/>
              </a:ext>
            </a:extLst>
          </p:cNvPr>
          <p:cNvSpPr txBox="1"/>
          <p:nvPr/>
        </p:nvSpPr>
        <p:spPr>
          <a:xfrm>
            <a:off x="4485409" y="136525"/>
            <a:ext cx="412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4CFC146-6679-822C-7DA6-5F6020E225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9180339"/>
              </p:ext>
            </p:extLst>
          </p:nvPr>
        </p:nvGraphicFramePr>
        <p:xfrm>
          <a:off x="501332" y="724705"/>
          <a:ext cx="11523520" cy="57565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292">
                  <a:extLst>
                    <a:ext uri="{9D8B030D-6E8A-4147-A177-3AD203B41FA5}">
                      <a16:colId xmlns:a16="http://schemas.microsoft.com/office/drawing/2014/main" val="4198733524"/>
                    </a:ext>
                  </a:extLst>
                </a:gridCol>
                <a:gridCol w="1839720">
                  <a:extLst>
                    <a:ext uri="{9D8B030D-6E8A-4147-A177-3AD203B41FA5}">
                      <a16:colId xmlns:a16="http://schemas.microsoft.com/office/drawing/2014/main" val="1541954154"/>
                    </a:ext>
                  </a:extLst>
                </a:gridCol>
                <a:gridCol w="1821262">
                  <a:extLst>
                    <a:ext uri="{9D8B030D-6E8A-4147-A177-3AD203B41FA5}">
                      <a16:colId xmlns:a16="http://schemas.microsoft.com/office/drawing/2014/main" val="2331070903"/>
                    </a:ext>
                  </a:extLst>
                </a:gridCol>
                <a:gridCol w="2030020">
                  <a:extLst>
                    <a:ext uri="{9D8B030D-6E8A-4147-A177-3AD203B41FA5}">
                      <a16:colId xmlns:a16="http://schemas.microsoft.com/office/drawing/2014/main" val="2789329345"/>
                    </a:ext>
                  </a:extLst>
                </a:gridCol>
                <a:gridCol w="1870751">
                  <a:extLst>
                    <a:ext uri="{9D8B030D-6E8A-4147-A177-3AD203B41FA5}">
                      <a16:colId xmlns:a16="http://schemas.microsoft.com/office/drawing/2014/main" val="482863234"/>
                    </a:ext>
                  </a:extLst>
                </a:gridCol>
                <a:gridCol w="1465005">
                  <a:extLst>
                    <a:ext uri="{9D8B030D-6E8A-4147-A177-3AD203B41FA5}">
                      <a16:colId xmlns:a16="http://schemas.microsoft.com/office/drawing/2014/main" val="2789447342"/>
                    </a:ext>
                  </a:extLst>
                </a:gridCol>
                <a:gridCol w="1536470">
                  <a:extLst>
                    <a:ext uri="{9D8B030D-6E8A-4147-A177-3AD203B41FA5}">
                      <a16:colId xmlns:a16="http://schemas.microsoft.com/office/drawing/2014/main" val="1554649309"/>
                    </a:ext>
                  </a:extLst>
                </a:gridCol>
              </a:tblGrid>
              <a:tr h="74262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Name &amp; 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127632"/>
                  </a:ext>
                </a:extLst>
              </a:tr>
              <a:tr h="920303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Co-Pilot for Project Managers: Developing a PDF-Driven AI Chatbot for Facilitating Project Management</a:t>
                      </a:r>
                      <a:endParaRPr lang="en-US" sz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Khorshed Alam, Mahbubul Haq Bhuiyan, Mohammad Shafiqul Islam, Abul Hossain Chowdhury, Zaheed Ahmed Bhuiyan, and Suman </a:t>
                      </a:r>
                      <a:r>
                        <a:rPr lang="en-IN" sz="1050" kern="1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Ahmmed</a:t>
                      </a:r>
                      <a:r>
                        <a:rPr lang="en-IN" sz="105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2025, IEEE Access 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u="sng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4"/>
                        </a:rPr>
                        <a:t>https://ieeexplore.ieee.org/document/10912498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2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6350" marT="3238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900" kern="1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OpenAssistant</a:t>
                      </a:r>
                      <a:r>
                        <a:rPr lang="en-IN" sz="9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SFT-1 12B (fine-tuned on Pythia 12B architecture)</a:t>
                      </a:r>
                      <a:endParaRPr lang="en-IN" sz="11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9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Cosine similarity scoring</a:t>
                      </a:r>
                      <a:endParaRPr lang="en-IN" sz="11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9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Semantic similarity scoring</a:t>
                      </a:r>
                      <a:endParaRPr lang="en-IN" sz="11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21590" indent="-1714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7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First chatbot acting as a </a:t>
                      </a:r>
                      <a:r>
                        <a:rPr lang="en-IN" sz="7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virtual project manager</a:t>
                      </a:r>
                      <a:r>
                        <a:rPr lang="en-IN" sz="7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specifically for project management automation</a:t>
                      </a:r>
                      <a:endParaRPr lang="en-IN" sz="10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71450" marR="21590" indent="-1714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7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context-aware project guidance from PDF documents (e.g., SRS reports)</a:t>
                      </a:r>
                      <a:endParaRPr lang="en-IN" sz="10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7960" indent="-1714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Currently focused only on e-commerce project management</a:t>
                      </a:r>
                      <a:endParaRPr lang="en-IN" sz="105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87960" indent="-1714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No integration yet of </a:t>
                      </a:r>
                      <a:r>
                        <a:rPr lang="en-IN" sz="8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image-based data (e.g., diagrams, visuals)</a:t>
                      </a:r>
                      <a:endParaRPr lang="en-IN" sz="105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360573"/>
                  </a:ext>
                </a:extLst>
              </a:tr>
              <a:tr h="885203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 LLM-Driven Chatbot in Higher Education for Databases and Information Systems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Alexander T. Neumann et al., 2025, IEEE Transactions on Education 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u="sng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5" action="ppaction://hlinkpres?slideindex=1&amp;slidetitle="/>
                        </a:rPr>
                        <a:t>https://ieeexplore.ieee.org/document/10706931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RAG + LLM-based GPT model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7960" marR="12065" indent="-1714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7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Students found the chatbot useful and easy to use</a:t>
                      </a:r>
                      <a:endParaRPr lang="en-IN" sz="10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87960" marR="12065" indent="-1714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7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Enhanced self-regulated learning (SRL) and reduced help-seeking anxiety</a:t>
                      </a:r>
                      <a:endParaRPr lang="en-IN" sz="10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7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LLM hallucination issues</a:t>
                      </a:r>
                      <a:endParaRPr lang="en-IN" sz="10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7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 long-term or cross-course evaluation</a:t>
                      </a:r>
                      <a:endParaRPr lang="en-IN" sz="10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7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Cost and scalability challenges remain</a:t>
                      </a:r>
                      <a:endParaRPr lang="en-IN" sz="10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7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6350" marT="3238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2358239"/>
                  </a:ext>
                </a:extLst>
              </a:tr>
              <a:tr h="8145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Data Augmentation and Preparation Process of </a:t>
                      </a:r>
                      <a:r>
                        <a:rPr lang="en-IN" sz="11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PerInfEx</a:t>
                      </a: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A Persian Chatbot With the Ability of Information Extraction 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Pegah Safari &amp; Mehrnoush </a:t>
                      </a:r>
                      <a:r>
                        <a:rPr lang="en-IN" sz="105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Shamsfard</a:t>
                      </a:r>
                      <a:r>
                        <a:rPr lang="en-IN" sz="105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2024, IEEE Access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u="sng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5" action="ppaction://hlinkpres?slideindex=1&amp;slidetitle="/>
                        </a:rPr>
                        <a:t>https://ieeexplore.ieee.org/document/10418595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GPT-3.5, Conditional BERT, Active Learning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5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First Persian open-domain chatbot corpus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7960" indent="-1714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9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Niche focus on personal info extraction</a:t>
                      </a:r>
                      <a:endParaRPr lang="en-IN" sz="11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87960" indent="-1714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9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 real-time chatbot deployment or evaluation</a:t>
                      </a:r>
                      <a:endParaRPr lang="en-IN" sz="11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057868"/>
                  </a:ext>
                </a:extLst>
              </a:tr>
              <a:tr h="86327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Hybrid Chatbot Model for Enhancing Administrative Support in Education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Kanaan Mikael et al., 2025, IEEE Access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u="sng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5" action="ppaction://hlinkpres?slideindex=1&amp;slidetitle="/>
                        </a:rPr>
                        <a:t>https://ieeexplore.ieee.org/document/10930906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Multinomial Naive Bayes classifier, rule-based logic, generative modules</a:t>
                      </a:r>
                      <a:endParaRPr lang="en-IN" sz="12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6350" marT="3238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7960" indent="-1714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9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Flexible routing of user queries</a:t>
                      </a:r>
                      <a:endParaRPr lang="en-IN" sz="11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87960" indent="-1714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9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Reduced admin workload and scalable to other domains</a:t>
                      </a:r>
                      <a:endParaRPr lang="en-IN" sz="11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9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Only tested at Sakarya University</a:t>
                      </a:r>
                      <a:endParaRPr lang="en-IN" sz="11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9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No external evaluation or general dataset comparison</a:t>
                      </a:r>
                      <a:endParaRPr lang="en-IN" sz="11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5285403"/>
                  </a:ext>
                </a:extLst>
              </a:tr>
              <a:tr h="1022352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Using the SOCIO Chatbot for UML Modelling: A Family of Experiments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Ranci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Ren et al., 2023, IEEE Transactions on Software Engineering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u="sng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6"/>
                        </a:rPr>
                        <a:t>https://ieeexplore.ieee.org/document/9712254</a:t>
                      </a:r>
                      <a:endParaRPr lang="en-IN" sz="1400" u="sng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None; evaluation based on usability metrics and statistical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modeling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12065" indent="-1714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9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SOCIO users were faster and more satisfied</a:t>
                      </a:r>
                      <a:endParaRPr lang="en-IN" sz="11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71450" marR="12065" indent="-1714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900" kern="1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Chatbotgenerated</a:t>
                      </a:r>
                      <a:r>
                        <a:rPr lang="en-IN" sz="9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diagrams </a:t>
                      </a:r>
                      <a:r>
                        <a:rPr lang="en-IN" sz="900" kern="1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wereconcise</a:t>
                      </a:r>
                      <a:r>
                        <a:rPr lang="en-IN" sz="9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and effective for modelling</a:t>
                      </a:r>
                      <a:endParaRPr lang="en-IN" sz="11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05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Focus limited to class diagrams</a:t>
                      </a:r>
                      <a:endParaRPr lang="en-I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05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Participants were all students</a:t>
                      </a:r>
                      <a:endParaRPr lang="en-I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486259"/>
                  </a:ext>
                </a:extLst>
              </a:tr>
            </a:tbl>
          </a:graphicData>
        </a:graphic>
      </p:graphicFrame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10705DCB-9783-6556-5F97-3C68793B53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11/9/2025</a:t>
            </a:r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40FDF3D-8380-2CB9-3533-C070F1B99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46810" y="6430234"/>
            <a:ext cx="4232564" cy="365125"/>
          </a:xfrm>
        </p:spPr>
        <p:txBody>
          <a:bodyPr/>
          <a:lstStyle/>
          <a:p>
            <a:r>
              <a:rPr lang="en-US" dirty="0"/>
              <a:t>Review No.1               Batch No.DB-16          Department of CSE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4F9B45BD-CE04-3B3E-9B60-D7A4C86CD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949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D04D20-454D-86AE-E6D5-4F54F5E59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11/9/2025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228ECC-FFD2-7512-CA92-D620B8805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0247" y="6356349"/>
            <a:ext cx="4690353" cy="365125"/>
          </a:xfrm>
        </p:spPr>
        <p:txBody>
          <a:bodyPr/>
          <a:lstStyle/>
          <a:p>
            <a:r>
              <a:rPr lang="en-US" dirty="0"/>
              <a:t>Review No.1               Batch No.DB-16            Department of    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D3AF50-851B-C096-F01D-6FD504B42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 descr="A close up of a logo&#10;&#10;AI-generated content may be incorrect.">
            <a:extLst>
              <a:ext uri="{FF2B5EF4-FFF2-40B4-BE49-F238E27FC236}">
                <a16:creationId xmlns:a16="http://schemas.microsoft.com/office/drawing/2014/main" id="{25353696-D08C-8F06-A896-12493F79C6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55B0B0-55CB-20A0-A4CF-86D00590E3FC}"/>
              </a:ext>
            </a:extLst>
          </p:cNvPr>
          <p:cNvSpPr txBox="1"/>
          <p:nvPr/>
        </p:nvSpPr>
        <p:spPr>
          <a:xfrm>
            <a:off x="2333503" y="957621"/>
            <a:ext cx="7406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Deep-Dive – LLMs in Education (Neumann et al., 2025)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4FC842-B0B4-1AEC-9AB2-C11A56CDE07F}"/>
              </a:ext>
            </a:extLst>
          </p:cNvPr>
          <p:cNvSpPr txBox="1"/>
          <p:nvPr/>
        </p:nvSpPr>
        <p:spPr>
          <a:xfrm>
            <a:off x="588140" y="1690239"/>
            <a:ext cx="1072388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LLM-powered educational chatbot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assist students in database learning.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Retrieval-Augmented Generation (RAG)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combine information retrieval with generative responses.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GPT-based language models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natural and conversational interaction.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that chatbots can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help-seeking anxiety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among students.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engagement and self-paced learning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interactive querying.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Highlighted the importance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context-aware retrieval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accurate educational assistance.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Motivated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interactive, user-friendly design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our PDF chatbot system.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5829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13CDCF-A055-8630-D963-948235F96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11/9/2025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C02F80-996C-0AE5-B14B-E8AC5DE39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0247" y="6356349"/>
            <a:ext cx="4441433" cy="365125"/>
          </a:xfrm>
        </p:spPr>
        <p:txBody>
          <a:bodyPr/>
          <a:lstStyle/>
          <a:p>
            <a:r>
              <a:rPr lang="en-US" dirty="0"/>
              <a:t>Review No.1               Batch No.DB-16 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7C68B1-A75D-5C10-B3F6-2FCBD0BA5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 descr="A close up of a logo&#10;&#10;AI-generated content may be incorrect.">
            <a:extLst>
              <a:ext uri="{FF2B5EF4-FFF2-40B4-BE49-F238E27FC236}">
                <a16:creationId xmlns:a16="http://schemas.microsoft.com/office/drawing/2014/main" id="{5802782E-B32B-7D6E-AAB0-4EF39E2173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76AD8E-CE07-4EDE-1569-75A3CC443103}"/>
              </a:ext>
            </a:extLst>
          </p:cNvPr>
          <p:cNvSpPr txBox="1"/>
          <p:nvPr/>
        </p:nvSpPr>
        <p:spPr>
          <a:xfrm>
            <a:off x="1198880" y="907714"/>
            <a:ext cx="89306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Deep-Dive – Project Management Automation (Alam et al., 2025)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572469-60C6-2406-DB11-A1BF7F98A76D}"/>
              </a:ext>
            </a:extLst>
          </p:cNvPr>
          <p:cNvSpPr txBox="1"/>
          <p:nvPr/>
        </p:nvSpPr>
        <p:spPr>
          <a:xfrm>
            <a:off x="838200" y="1574800"/>
            <a:ext cx="1159764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PDF-driven AI chatbot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project document management.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Employed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OpenAssistant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SFT-1 12B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the core large language model.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cosine similarity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semantic document retrieval.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Focused on automating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 and document querying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tasks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system performance using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 accuracy and response latency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scalability and efficiency challenges in large document processing.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Served as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baseline model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comparison with our proposed system.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365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logo&#10;&#10;AI-generated content may be incorrect.">
            <a:extLst>
              <a:ext uri="{FF2B5EF4-FFF2-40B4-BE49-F238E27FC236}">
                <a16:creationId xmlns:a16="http://schemas.microsoft.com/office/drawing/2014/main" id="{FC58EB6D-A5A0-6E23-DCA6-46EBE7A07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EC3593-DAC2-E52A-0BE4-84F4C1CB9625}"/>
              </a:ext>
            </a:extLst>
          </p:cNvPr>
          <p:cNvSpPr txBox="1"/>
          <p:nvPr/>
        </p:nvSpPr>
        <p:spPr>
          <a:xfrm>
            <a:off x="2783840" y="717754"/>
            <a:ext cx="69392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 of “Dark Data” in PDFs 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A905035-F6D3-6861-2AEC-4E202B6FED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11/9/2025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9181048-CCC4-B9B5-6F1D-41E6E2793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232564" cy="365125"/>
          </a:xfrm>
        </p:spPr>
        <p:txBody>
          <a:bodyPr/>
          <a:lstStyle/>
          <a:p>
            <a:r>
              <a:rPr lang="en-US" dirty="0"/>
              <a:t>Review No.1               Batch No.DB-16          Department of CSE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4C93BF0-CFB4-F518-D235-484902E97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8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F17700-1967-CEDD-F7C8-4B7C9F0BA646}"/>
              </a:ext>
            </a:extLst>
          </p:cNvPr>
          <p:cNvSpPr txBox="1"/>
          <p:nvPr/>
        </p:nvSpPr>
        <p:spPr>
          <a:xfrm>
            <a:off x="254000" y="1240974"/>
            <a:ext cx="1161353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/>
              <a:t>PDFs preserve layout but not machine understanding</a:t>
            </a:r>
            <a:r>
              <a:rPr lang="en-US" sz="2000" dirty="0"/>
              <a:t>, making automatic information extraction difficult.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b="1" dirty="0"/>
              <a:t>Static document nature creates “dark data”</a:t>
            </a:r>
            <a:r>
              <a:rPr lang="en-IN" sz="2000" dirty="0"/>
              <a:t>, where valuable information exists but remains inaccessible to intelligent systems.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/>
              <a:t>Modern PDFs are long and complex</a:t>
            </a:r>
            <a:r>
              <a:rPr lang="en-US" sz="2000" dirty="0"/>
              <a:t>, containing dense and multi-sectioned content.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/>
              <a:t>Manual searching is time-consuming</a:t>
            </a:r>
            <a:r>
              <a:rPr lang="en-US" sz="2000" dirty="0"/>
              <a:t>, requiring users to scan multiple pages to find relevant information.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/>
              <a:t>Keyword-based search relies on exact word matching</a:t>
            </a:r>
            <a:r>
              <a:rPr lang="en-US" sz="2000" dirty="0"/>
              <a:t>, failing to capture meaning or intent.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/>
              <a:t>Semantic relationships and synonyms are ignored</a:t>
            </a:r>
            <a:r>
              <a:rPr lang="en-US" sz="2000" dirty="0"/>
              <a:t>, leading to incomplete or irrelevant results.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/>
              <a:t>Non-expert users struggle with information retrieval</a:t>
            </a:r>
            <a:r>
              <a:rPr lang="en-US" sz="2000" dirty="0"/>
              <a:t>, as current tools cannot understand paraphrased or natural language queries.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913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CAA393-54CF-271D-DE8B-8B8372971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11/9/2025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CE3A74-296B-A5B1-4B8E-4FE2CDF78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No.1               Batch No.DB-16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A8FCDA-EC49-B8ED-F10C-0B638CE61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08F44F-11E3-B20E-3F12-6BE6B7503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90975" cy="7143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423929-2B52-CE93-105E-D5272D8CBD83}"/>
              </a:ext>
            </a:extLst>
          </p:cNvPr>
          <p:cNvSpPr txBox="1"/>
          <p:nvPr/>
        </p:nvSpPr>
        <p:spPr>
          <a:xfrm>
            <a:off x="3759200" y="548640"/>
            <a:ext cx="558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Why Semantic Search?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105CC2-A39E-FB36-51A3-44236DFDF35F}"/>
              </a:ext>
            </a:extLst>
          </p:cNvPr>
          <p:cNvSpPr txBox="1"/>
          <p:nvPr/>
        </p:nvSpPr>
        <p:spPr>
          <a:xfrm>
            <a:off x="416560" y="1118720"/>
            <a:ext cx="1150112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Goes beyond keyword matching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understanding the intent and contextual meaning of user queries.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Retrieves relevant results even with different wording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handling synonyms and paraphrased queries effectively.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context-aware understanding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enabling natural and human-like interaction with documents.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dense vector embeddings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generated by transformer models such as BERT and Sentence-BERT.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Preserves hidden semantic meaning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capturing relationships between words and sentences beyond surface text.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text in a geometric semantic space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similar meanings are located closer together.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retrieval accuracy and relevance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leading to higher precision and better user satisfaction compared to keyword-based search.</a:t>
            </a:r>
          </a:p>
        </p:txBody>
      </p:sp>
    </p:spTree>
    <p:extLst>
      <p:ext uri="{BB962C8B-B14F-4D97-AF65-F5344CB8AC3E}">
        <p14:creationId xmlns:p14="http://schemas.microsoft.com/office/powerpoint/2010/main" val="1562809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BA35B7-561C-C5CB-966A-5A87FDEF0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11/9/2025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8585E8-18D0-62A9-F842-79AC32C2A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0247" y="6356349"/>
            <a:ext cx="4492233" cy="365125"/>
          </a:xfrm>
        </p:spPr>
        <p:txBody>
          <a:bodyPr/>
          <a:lstStyle/>
          <a:p>
            <a:r>
              <a:rPr lang="en-US" dirty="0"/>
              <a:t>Review No.1               Batch No.DB-16 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A93942-D107-4FA3-7941-98C871B8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14F6BF-5F70-100A-C82E-BF7B4FAF1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90975" cy="7143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575E9A3-CD40-322B-8911-A9DC7693A551}"/>
              </a:ext>
            </a:extLst>
          </p:cNvPr>
          <p:cNvSpPr txBox="1"/>
          <p:nvPr/>
        </p:nvSpPr>
        <p:spPr>
          <a:xfrm>
            <a:off x="4490720" y="5297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</a:t>
            </a:r>
          </a:p>
        </p:txBody>
      </p:sp>
      <p:graphicFrame>
        <p:nvGraphicFramePr>
          <p:cNvPr id="22" name="TextBox 17">
            <a:extLst>
              <a:ext uri="{FF2B5EF4-FFF2-40B4-BE49-F238E27FC236}">
                <a16:creationId xmlns:a16="http://schemas.microsoft.com/office/drawing/2014/main" id="{9B0BA398-EF76-78A4-4759-9E6E438ECC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707532"/>
              </p:ext>
            </p:extLst>
          </p:nvPr>
        </p:nvGraphicFramePr>
        <p:xfrm>
          <a:off x="497840" y="474344"/>
          <a:ext cx="10932160" cy="54184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98561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7CB96F4B-CE97-DEFE-C282-82E905DA14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F5088D-0577-DC8F-2B1F-5ED1622703A2}"/>
              </a:ext>
            </a:extLst>
          </p:cNvPr>
          <p:cNvSpPr txBox="1"/>
          <p:nvPr/>
        </p:nvSpPr>
        <p:spPr>
          <a:xfrm>
            <a:off x="3924300" y="717754"/>
            <a:ext cx="434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EB25DB-083C-1274-4B11-1CAA06FE9B25}"/>
              </a:ext>
            </a:extLst>
          </p:cNvPr>
          <p:cNvSpPr txBox="1"/>
          <p:nvPr/>
        </p:nvSpPr>
        <p:spPr>
          <a:xfrm>
            <a:off x="675407" y="1173898"/>
            <a:ext cx="35225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C58623-0B93-5802-0E18-E719EB4AC903}"/>
              </a:ext>
            </a:extLst>
          </p:cNvPr>
          <p:cNvSpPr txBox="1"/>
          <p:nvPr/>
        </p:nvSpPr>
        <p:spPr>
          <a:xfrm>
            <a:off x="1589809" y="1858569"/>
            <a:ext cx="9559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Extracting accurate information from long, unstructured PDF documents is difficult.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BAF1C0-CBA1-3201-92D8-14087357BB73}"/>
              </a:ext>
            </a:extLst>
          </p:cNvPr>
          <p:cNvSpPr txBox="1"/>
          <p:nvPr/>
        </p:nvSpPr>
        <p:spPr>
          <a:xfrm>
            <a:off x="1589809" y="2227901"/>
            <a:ext cx="94557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Keyword-based searches fail to capture semantic meaning and context</a:t>
            </a:r>
            <a:r>
              <a:rPr lang="en-US" dirty="0"/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CD34F5-9614-7B7A-F757-FA8C5AA1E785}"/>
              </a:ext>
            </a:extLst>
          </p:cNvPr>
          <p:cNvSpPr txBox="1"/>
          <p:nvPr/>
        </p:nvSpPr>
        <p:spPr>
          <a:xfrm>
            <a:off x="1589809" y="2643399"/>
            <a:ext cx="99648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need an intelligent system that understands natural language and retrieves relevant content efficiently.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A362F5-6A62-CC43-D4AD-E764D71BB2A9}"/>
              </a:ext>
            </a:extLst>
          </p:cNvPr>
          <p:cNvSpPr txBox="1"/>
          <p:nvPr/>
        </p:nvSpPr>
        <p:spPr>
          <a:xfrm>
            <a:off x="675407" y="3655763"/>
            <a:ext cx="37926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C1FAE7-02F9-FF92-3682-91D18E53357F}"/>
              </a:ext>
            </a:extLst>
          </p:cNvPr>
          <p:cNvSpPr txBox="1"/>
          <p:nvPr/>
        </p:nvSpPr>
        <p:spPr>
          <a:xfrm>
            <a:off x="1589809" y="4186546"/>
            <a:ext cx="99648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faster and more precise access to information in PDFs.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2AC19E-F9D0-9CFB-49BE-0D6350B74212}"/>
              </a:ext>
            </a:extLst>
          </p:cNvPr>
          <p:cNvSpPr txBox="1"/>
          <p:nvPr/>
        </p:nvSpPr>
        <p:spPr>
          <a:xfrm>
            <a:off x="1589808" y="4633217"/>
            <a:ext cx="102246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effort in document reading and searching.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691E0A-C91A-547B-4327-B9F3FA7E996C}"/>
              </a:ext>
            </a:extLst>
          </p:cNvPr>
          <p:cNvSpPr txBox="1"/>
          <p:nvPr/>
        </p:nvSpPr>
        <p:spPr>
          <a:xfrm>
            <a:off x="1589808" y="5052847"/>
            <a:ext cx="8998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productivity for researchers, educators, and professionals.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CB154B21-B248-3900-60C1-86F9E6FE70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11/9/2025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88A614ED-0D2C-CB90-A300-6DC18E275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326082" cy="365125"/>
          </a:xfrm>
        </p:spPr>
        <p:txBody>
          <a:bodyPr/>
          <a:lstStyle/>
          <a:p>
            <a:r>
              <a:rPr lang="en-US" dirty="0"/>
              <a:t>Review No.1               Batch No.DB-16            Department of CSE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CF494F60-1B88-C0AA-CD14-20F681BC3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394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1F25B692-0658-3B85-67C9-130BD543CE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CBB557-9C17-74D6-AA80-7A8212067B92}"/>
              </a:ext>
            </a:extLst>
          </p:cNvPr>
          <p:cNvSpPr txBox="1"/>
          <p:nvPr/>
        </p:nvSpPr>
        <p:spPr>
          <a:xfrm>
            <a:off x="4665519" y="774261"/>
            <a:ext cx="2670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701FA-2850-45A3-602A-6B2655A9C6C1}"/>
              </a:ext>
            </a:extLst>
          </p:cNvPr>
          <p:cNvSpPr txBox="1"/>
          <p:nvPr/>
        </p:nvSpPr>
        <p:spPr>
          <a:xfrm>
            <a:off x="1070265" y="1645191"/>
            <a:ext cx="101103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chatbot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capable of answering queries from PDF documents.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AD42B6-7D60-61BA-3046-E8EC4F6C993C}"/>
              </a:ext>
            </a:extLst>
          </p:cNvPr>
          <p:cNvSpPr txBox="1"/>
          <p:nvPr/>
        </p:nvSpPr>
        <p:spPr>
          <a:xfrm>
            <a:off x="1070264" y="2624894"/>
            <a:ext cx="97570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apply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Sentence-BERT embeddings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FAISS indexing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semantic text retrieval.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CDFEFD-5D92-6827-350B-841FE2118D24}"/>
              </a:ext>
            </a:extLst>
          </p:cNvPr>
          <p:cNvSpPr txBox="1"/>
          <p:nvPr/>
        </p:nvSpPr>
        <p:spPr>
          <a:xfrm>
            <a:off x="1070264" y="3620569"/>
            <a:ext cx="99752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context-aware, natural language responses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the FLAN-T5 model.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747EA0-358D-0F57-0DF0-64896D487514}"/>
              </a:ext>
            </a:extLst>
          </p:cNvPr>
          <p:cNvSpPr txBox="1"/>
          <p:nvPr/>
        </p:nvSpPr>
        <p:spPr>
          <a:xfrm>
            <a:off x="1070264" y="4504924"/>
            <a:ext cx="101103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 system’s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accuracy, speed, and usability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against traditional search methods.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E2F39C0A-EAD9-698E-FC5E-DDF9A2FB9D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11/9/2025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DD446DA0-B457-D843-9DD3-8C2235E09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253345" cy="365125"/>
          </a:xfrm>
        </p:spPr>
        <p:txBody>
          <a:bodyPr/>
          <a:lstStyle/>
          <a:p>
            <a:r>
              <a:rPr lang="en-US" dirty="0"/>
              <a:t>Review No.1               Batch No.DB-16         Department of CSE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20AAF11-B120-57A6-1FB6-1A20F3CB6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620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C5607281-FC12-E0DA-8137-521C4196B2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A851F9-74A8-F7DE-4931-26F9586F8715}"/>
              </a:ext>
            </a:extLst>
          </p:cNvPr>
          <p:cNvSpPr txBox="1"/>
          <p:nvPr/>
        </p:nvSpPr>
        <p:spPr>
          <a:xfrm>
            <a:off x="2495550" y="717754"/>
            <a:ext cx="7200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OR FLOW DIAGRAM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862E4C1-4AFD-F0B1-B76C-536ADEE8DE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11/9/2025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71C7CEC3-1EFD-BA06-3E77-12F0C7E56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308988" cy="365125"/>
          </a:xfrm>
        </p:spPr>
        <p:txBody>
          <a:bodyPr/>
          <a:lstStyle/>
          <a:p>
            <a:r>
              <a:rPr lang="en-US" dirty="0"/>
              <a:t>Review No.1               Batch No.DB-16            Department of CSE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AC66FC3-E827-66F6-ADD9-EC29EBD39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 descr="A diagram of a diagram">
            <a:extLst>
              <a:ext uri="{FF2B5EF4-FFF2-40B4-BE49-F238E27FC236}">
                <a16:creationId xmlns:a16="http://schemas.microsoft.com/office/drawing/2014/main" id="{54CD5A0A-43F2-947B-B2B7-AF40283E4D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612" y="1435508"/>
            <a:ext cx="9754961" cy="453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2096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144E3E0F-422B-32D6-D33D-BEEC57D6F7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7A43ED-B860-C9B9-E429-99CD704EB9F1}"/>
              </a:ext>
            </a:extLst>
          </p:cNvPr>
          <p:cNvSpPr txBox="1"/>
          <p:nvPr/>
        </p:nvSpPr>
        <p:spPr>
          <a:xfrm>
            <a:off x="4255077" y="704643"/>
            <a:ext cx="316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597C9E-644D-41B3-78EF-5ED44B272335}"/>
              </a:ext>
            </a:extLst>
          </p:cNvPr>
          <p:cNvSpPr txBox="1"/>
          <p:nvPr/>
        </p:nvSpPr>
        <p:spPr>
          <a:xfrm>
            <a:off x="508596" y="1622718"/>
            <a:ext cx="113676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PDF chatbot framework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developed for semantic question answering.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three key models —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Sentence-BERT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FLAN-T5-XL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for embedding, retrieval, and response generation.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9EF2BD-6E46-0FE5-B624-E7354C254D64}"/>
              </a:ext>
            </a:extLst>
          </p:cNvPr>
          <p:cNvSpPr txBox="1"/>
          <p:nvPr/>
        </p:nvSpPr>
        <p:spPr>
          <a:xfrm>
            <a:off x="498764" y="2602348"/>
            <a:ext cx="112637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extracted from uploaded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 documents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the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PyMuPDF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library.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document is converted into structured text and segmented into overlapping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chunks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better continuity.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7BD5AE-47AF-83DC-8A04-EA1232B9B9E0}"/>
              </a:ext>
            </a:extLst>
          </p:cNvPr>
          <p:cNvSpPr txBox="1"/>
          <p:nvPr/>
        </p:nvSpPr>
        <p:spPr>
          <a:xfrm>
            <a:off x="508596" y="3652161"/>
            <a:ext cx="1068185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Lowercasing, punctuation and stop-word removal, lemmatization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numeric normalization.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performed to prepare input for the transformer encoder.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consistency and improves accuracy during embedding and retrieval.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451E5F-68B5-9714-F3EA-150E2691013C}"/>
              </a:ext>
            </a:extLst>
          </p:cNvPr>
          <p:cNvSpPr txBox="1"/>
          <p:nvPr/>
        </p:nvSpPr>
        <p:spPr>
          <a:xfrm>
            <a:off x="508596" y="4730389"/>
            <a:ext cx="10796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model is fine-tuned using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Hugging Face Transformers library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ensuring efficient GPU-based execution in Google Colab.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51D8D4-38F6-562C-B21F-2AAA7CDB8591}"/>
              </a:ext>
            </a:extLst>
          </p:cNvPr>
          <p:cNvSpPr txBox="1"/>
          <p:nvPr/>
        </p:nvSpPr>
        <p:spPr>
          <a:xfrm>
            <a:off x="498764" y="5404390"/>
            <a:ext cx="103285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Cosine Similarity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Similarity Score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to assess retrieval accuracy.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C875EA4-5111-BDFC-CF5A-0E8E0D7B40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11/9/2025</a:t>
            </a:r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886BF18-ED45-097D-C41E-0A1B0C4BC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32538"/>
            <a:ext cx="4222173" cy="365125"/>
          </a:xfrm>
        </p:spPr>
        <p:txBody>
          <a:bodyPr/>
          <a:lstStyle/>
          <a:p>
            <a:r>
              <a:rPr lang="en-US" dirty="0"/>
              <a:t>Review No.1               Batch No.DB-16           Department of CSE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4C5E4F43-383D-D35E-85AA-098FDB06A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744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2730BCE6-61E5-A0F1-8B65-12323D6A71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DB9516-10AB-90F6-316D-4CA5AEA1336E}"/>
              </a:ext>
            </a:extLst>
          </p:cNvPr>
          <p:cNvSpPr txBox="1"/>
          <p:nvPr/>
        </p:nvSpPr>
        <p:spPr>
          <a:xfrm>
            <a:off x="446809" y="986118"/>
            <a:ext cx="5870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Frameworks, Algorithms, and Tools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5B1D21-64C6-9FB9-C747-C3ABFE89FC02}"/>
              </a:ext>
            </a:extLst>
          </p:cNvPr>
          <p:cNvSpPr txBox="1"/>
          <p:nvPr/>
        </p:nvSpPr>
        <p:spPr>
          <a:xfrm>
            <a:off x="883228" y="1589396"/>
            <a:ext cx="105156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Frameworks Used: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Hugging Face Transformers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Gradio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model integration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interface,Google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Colab (NVIDIA Tesla T4 GPU).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69108D-89B8-3B35-453B-71EE73DB171C}"/>
              </a:ext>
            </a:extLst>
          </p:cNvPr>
          <p:cNvSpPr txBox="1"/>
          <p:nvPr/>
        </p:nvSpPr>
        <p:spPr>
          <a:xfrm>
            <a:off x="883227" y="2322538"/>
            <a:ext cx="10193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Algorithms Implemented: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77A08A-BCEF-44A9-DF27-95E1F5F68148}"/>
              </a:ext>
            </a:extLst>
          </p:cNvPr>
          <p:cNvSpPr txBox="1"/>
          <p:nvPr/>
        </p:nvSpPr>
        <p:spPr>
          <a:xfrm>
            <a:off x="2185667" y="2691870"/>
            <a:ext cx="91959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Sentence-BERT (all-MiniLM-L6-v2):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Generates 384-dimensional semantic embeddings for document chunks and user queries.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FAISS Similarity Search: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approximate nearest-neighbor (ANN)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retrieval based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cosine similarity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FLAN-T5-XL: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Instruction-tuned transformer that generates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context-aware answers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retrieved text segments.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275D3C-840A-6F03-12AF-D158DE81415A}"/>
              </a:ext>
            </a:extLst>
          </p:cNvPr>
          <p:cNvSpPr txBox="1"/>
          <p:nvPr/>
        </p:nvSpPr>
        <p:spPr>
          <a:xfrm>
            <a:off x="883227" y="5156021"/>
            <a:ext cx="102662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Strategy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Chunking: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50% overlap to preserve semantic continuity across segments.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Normalization: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L2 normalization applied before FAISS indexing.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8AD76D54-8D64-CFC4-C434-7C6B08E5BE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11/9/2025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2AE5487-5B5D-6CD4-4733-E6F3724FB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253345" cy="365125"/>
          </a:xfrm>
        </p:spPr>
        <p:txBody>
          <a:bodyPr/>
          <a:lstStyle/>
          <a:p>
            <a:r>
              <a:rPr lang="en-US" dirty="0"/>
              <a:t>Review No.1               Batch No.DB-16          Department of CSE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2F071760-566A-74AF-A633-0ABCD6D43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8709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06868D7C-721C-3A1D-BA61-AA6CCE0747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BCBFEE-F12E-CDA3-F634-EBAF19D5D317}"/>
              </a:ext>
            </a:extLst>
          </p:cNvPr>
          <p:cNvSpPr txBox="1"/>
          <p:nvPr/>
        </p:nvSpPr>
        <p:spPr>
          <a:xfrm>
            <a:off x="3989200" y="707363"/>
            <a:ext cx="413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974BC4-7CF3-732E-3EB2-2DAC485CA197}"/>
              </a:ext>
            </a:extLst>
          </p:cNvPr>
          <p:cNvSpPr txBox="1"/>
          <p:nvPr/>
        </p:nvSpPr>
        <p:spPr>
          <a:xfrm>
            <a:off x="768927" y="1802229"/>
            <a:ext cx="103909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was implemented using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Hugging Face Transformers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Colab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enabling GPU acceleration and efficient fine-tuning of summarization models.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895B26-25C4-DC88-7F1F-86AFC127FF41}"/>
              </a:ext>
            </a:extLst>
          </p:cNvPr>
          <p:cNvSpPr txBox="1"/>
          <p:nvPr/>
        </p:nvSpPr>
        <p:spPr>
          <a:xfrm>
            <a:off x="768927" y="2568932"/>
            <a:ext cx="97986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 Text Extraction: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PyMuPDF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retrieve structured text.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Chunking: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Dividing text into 50% overlapping segments for context preservation</a:t>
            </a:r>
            <a:r>
              <a:rPr lang="en-US" dirty="0"/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501344-6316-8260-B0C0-CA0B8105E377}"/>
              </a:ext>
            </a:extLst>
          </p:cNvPr>
          <p:cNvSpPr txBox="1"/>
          <p:nvPr/>
        </p:nvSpPr>
        <p:spPr>
          <a:xfrm>
            <a:off x="768927" y="3504898"/>
            <a:ext cx="945572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 Generation: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Sentence-BERT (all-MiniLM-L6-v2) used to create dense vectors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Indexing &amp; Retrieval: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FAISS library for top-k semantic matching.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 Generation: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FLAN-T5-XL produces context-aware natural language responses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EAA68D-BFEE-E9DC-5829-042A437894A8}"/>
              </a:ext>
            </a:extLst>
          </p:cNvPr>
          <p:cNvSpPr txBox="1"/>
          <p:nvPr/>
        </p:nvSpPr>
        <p:spPr>
          <a:xfrm>
            <a:off x="768927" y="5136114"/>
            <a:ext cx="100791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Built with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Gradio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interactive user input and output.</a:t>
            </a:r>
          </a:p>
          <a:p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859FC653-1337-E1FC-9D72-868146A6F3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11/9/2025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F2CB39AA-39F0-69B8-8C8A-14C969FAA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242955" cy="365125"/>
          </a:xfrm>
        </p:spPr>
        <p:txBody>
          <a:bodyPr/>
          <a:lstStyle/>
          <a:p>
            <a:r>
              <a:rPr lang="en-US" dirty="0"/>
              <a:t>Review No.1               Batch No.DB-16           Department of CSE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E190651-87EA-09AA-B462-A46BD08C6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8522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D4FF60-D117-6111-2E43-F486A4658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11/9/2025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852BAE-43D3-AFAA-E204-66F413B71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0247" y="6356349"/>
            <a:ext cx="4766553" cy="365125"/>
          </a:xfrm>
        </p:spPr>
        <p:txBody>
          <a:bodyPr/>
          <a:lstStyle/>
          <a:p>
            <a:r>
              <a:rPr lang="en-US" dirty="0"/>
              <a:t>Review No.1               Batch No.DB-16 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06201A-4F6B-7FC7-F06E-819497E9B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 descr="A close up of a logo&#10;&#10;AI-generated content may be incorrect.">
            <a:extLst>
              <a:ext uri="{FF2B5EF4-FFF2-40B4-BE49-F238E27FC236}">
                <a16:creationId xmlns:a16="http://schemas.microsoft.com/office/drawing/2014/main" id="{3353756A-D4CE-5452-668F-422721804A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E441B2-B16D-90E1-D04B-B1B8099073A5}"/>
              </a:ext>
            </a:extLst>
          </p:cNvPr>
          <p:cNvSpPr txBox="1"/>
          <p:nvPr/>
        </p:nvSpPr>
        <p:spPr>
          <a:xfrm>
            <a:off x="3465960" y="978002"/>
            <a:ext cx="6471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Ingestion &amp; Extraction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3086B9-810D-14C4-C387-0A58D2372367}"/>
              </a:ext>
            </a:extLst>
          </p:cNvPr>
          <p:cNvSpPr txBox="1"/>
          <p:nvPr/>
        </p:nvSpPr>
        <p:spPr>
          <a:xfrm>
            <a:off x="909320" y="1770490"/>
            <a:ext cx="1094232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begins by ingesting user-uploaded PDF documents for processing.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PyMuPDF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fitz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library is used for robust and reliable PDF text extraction.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extraction process iterates through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page of the PDF sequentially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visible and readable text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extracted, avoiding metadata noise.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text from all pages is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concatenated into a unified string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ensures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content loss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during conversion from PDF layout to raw text.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text output serves as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foundation for downstream semantic processing</a:t>
            </a:r>
            <a:r>
              <a:rPr lang="en-US" dirty="0"/>
              <a:t>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21662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5C08FC-291C-0FC3-1A18-BD71CEC56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11/9/2025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2ABCFE-54E6-0DE2-1586-4EA680828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0247" y="6356349"/>
            <a:ext cx="4309353" cy="365125"/>
          </a:xfrm>
        </p:spPr>
        <p:txBody>
          <a:bodyPr/>
          <a:lstStyle/>
          <a:p>
            <a:r>
              <a:rPr lang="en-US" dirty="0"/>
              <a:t>Review No.1               Batch No.DB-16 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1B059C-F857-AA77-A5D1-375BD1E9C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18</a:t>
            </a:fld>
            <a:endParaRPr lang="en-US"/>
          </a:p>
        </p:txBody>
      </p:sp>
      <p:pic>
        <p:nvPicPr>
          <p:cNvPr id="5" name="Picture 4" descr="A close up of a logo&#10;&#10;AI-generated content may be incorrect.">
            <a:extLst>
              <a:ext uri="{FF2B5EF4-FFF2-40B4-BE49-F238E27FC236}">
                <a16:creationId xmlns:a16="http://schemas.microsoft.com/office/drawing/2014/main" id="{7C448C6B-7580-AA1A-8267-FA4660E526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05C894-F79F-575F-D411-BDB3B076042C}"/>
              </a:ext>
            </a:extLst>
          </p:cNvPr>
          <p:cNvSpPr txBox="1"/>
          <p:nvPr/>
        </p:nvSpPr>
        <p:spPr>
          <a:xfrm>
            <a:off x="3811400" y="575514"/>
            <a:ext cx="7122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Text Chunking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EA812D-0D46-8125-15AC-217214E761C6}"/>
              </a:ext>
            </a:extLst>
          </p:cNvPr>
          <p:cNvSpPr txBox="1"/>
          <p:nvPr/>
        </p:nvSpPr>
        <p:spPr>
          <a:xfrm>
            <a:off x="1071880" y="1335774"/>
            <a:ext cx="1004824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Chunking significantly improves retrieval accuracy and answer relevance.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extracted text is not processed as a single block to avoid context dilution.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sliding window chunking technique is employed for segmentation.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is divided into manageable chunks suitable for transformer models.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50% overlap between adjacent chunks is maintained.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Overlapping preserves semantic continuity at chunk boundaries.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the model from losing contextual flow between segments.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6719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7F8035-F44C-17EB-F50E-A7A9142C6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11/9/2025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BDADFB-C658-2889-F5D5-342C47FAC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0247" y="6356349"/>
            <a:ext cx="4309353" cy="365125"/>
          </a:xfrm>
        </p:spPr>
        <p:txBody>
          <a:bodyPr/>
          <a:lstStyle/>
          <a:p>
            <a:r>
              <a:rPr lang="en-US" dirty="0"/>
              <a:t>Review No.1               Batch No.DB-16 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0B380-D4E9-1002-9898-9CA076900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4" descr="A close up of a logo&#10;&#10;AI-generated content may be incorrect.">
            <a:extLst>
              <a:ext uri="{FF2B5EF4-FFF2-40B4-BE49-F238E27FC236}">
                <a16:creationId xmlns:a16="http://schemas.microsoft.com/office/drawing/2014/main" id="{430DDB81-EEB9-7D7E-252D-FF6990638A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B4D483-8EC6-45A1-3B4A-A5B957076836}"/>
              </a:ext>
            </a:extLst>
          </p:cNvPr>
          <p:cNvSpPr txBox="1"/>
          <p:nvPr/>
        </p:nvSpPr>
        <p:spPr>
          <a:xfrm>
            <a:off x="3838967" y="923371"/>
            <a:ext cx="5071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Text Preprocessing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9BC478-C49B-B638-7508-6DFE38D910AB}"/>
              </a:ext>
            </a:extLst>
          </p:cNvPr>
          <p:cNvSpPr txBox="1"/>
          <p:nvPr/>
        </p:nvSpPr>
        <p:spPr>
          <a:xfrm>
            <a:off x="838200" y="1739220"/>
            <a:ext cx="10014463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ensures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uniform and clean text representation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text is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to lowercase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eliminate case-based inconsistencies.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 whitespaces are removed to maintain formatting consistency.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Punctuation and stop-words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stripped to reduce noise.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is placed on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meaningful and content-bearing tokens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Standalone digits are replaced with placeholders such as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“NUM”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improves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similarity and embedding quality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77438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EDE788-799C-A0A8-DDA0-0647D4557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11/9/2025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FE587F-4BB9-8CD7-9EEA-FADB2EB90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0247" y="6356349"/>
            <a:ext cx="4512553" cy="365125"/>
          </a:xfrm>
        </p:spPr>
        <p:txBody>
          <a:bodyPr/>
          <a:lstStyle/>
          <a:p>
            <a:r>
              <a:rPr lang="en-US" dirty="0"/>
              <a:t>Review No.1               Batch No.DB-16 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E26DB1-A6CF-D327-FDF2-E492BA2FE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20</a:t>
            </a:fld>
            <a:endParaRPr lang="en-US"/>
          </a:p>
        </p:txBody>
      </p:sp>
      <p:pic>
        <p:nvPicPr>
          <p:cNvPr id="5" name="Picture 4" descr="A close up of a logo&#10;&#10;AI-generated content may be incorrect.">
            <a:extLst>
              <a:ext uri="{FF2B5EF4-FFF2-40B4-BE49-F238E27FC236}">
                <a16:creationId xmlns:a16="http://schemas.microsoft.com/office/drawing/2014/main" id="{8D40FBC6-4127-262C-9DE8-2358BB961D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11FB26-73CC-A636-C4DA-6B9353597354}"/>
              </a:ext>
            </a:extLst>
          </p:cNvPr>
          <p:cNvSpPr txBox="1"/>
          <p:nvPr/>
        </p:nvSpPr>
        <p:spPr>
          <a:xfrm>
            <a:off x="3581400" y="843280"/>
            <a:ext cx="607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Mathematics of Embedding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5297CD5-F2A1-691F-C1FF-0AA39423D694}"/>
                  </a:ext>
                </a:extLst>
              </p:cNvPr>
              <p:cNvSpPr txBox="1"/>
              <p:nvPr/>
            </p:nvSpPr>
            <p:spPr>
              <a:xfrm>
                <a:off x="990600" y="1304945"/>
                <a:ext cx="9464040" cy="49337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Semantic embeddings are generated using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Sentence-BERT (all-MiniLM-L6-v2)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Each text chunk is transformed into a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384-dimensional vector representation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model encodes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contextual and semantic relationships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between words.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Token-level embeddings are obtained from the transformer encoder.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 pooling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applied to aggregate token embeddings into a sentence vector.</a:t>
                </a:r>
              </a:p>
              <a:p>
                <a:pPr algn="just"/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final embedding is computed as: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/>
                        <m:t>𝑠</m:t>
                      </m:r>
                      <m:r>
                        <a:rPr lang="en-IN" sz="2000"/>
                        <m:t>=</m:t>
                      </m:r>
                      <m:f>
                        <m:fPr>
                          <m:ctrlPr>
                            <a:rPr lang="ar-AE" sz="2000" i="1"/>
                          </m:ctrlPr>
                        </m:fPr>
                        <m:num>
                          <m:r>
                            <a:rPr lang="ar-AE" sz="2000"/>
                            <m:t>1</m:t>
                          </m:r>
                        </m:num>
                        <m:den>
                          <m:r>
                            <a:rPr lang="ar-AE" sz="2000" i="1"/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ctrlPr>
                            <a:rPr lang="ar-AE" sz="2000" i="1"/>
                          </m:ctrlPr>
                        </m:naryPr>
                        <m:sub>
                          <m:r>
                            <a:rPr lang="ar-AE" sz="2000" i="1"/>
                            <m:t>𝑖</m:t>
                          </m:r>
                          <m:r>
                            <a:rPr lang="ar-AE" sz="2000"/>
                            <m:t>=</m:t>
                          </m:r>
                          <m:r>
                            <a:rPr lang="ar-AE" sz="2000"/>
                            <m:t>1</m:t>
                          </m:r>
                        </m:sub>
                        <m:sup>
                          <m:r>
                            <a:rPr lang="ar-AE" sz="2000" i="1"/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ar-AE" sz="2000" i="1"/>
                              </m:ctrlPr>
                            </m:sSubPr>
                            <m:e>
                              <m:r>
                                <a:rPr lang="ar-AE" sz="2000" i="1"/>
                                <m:t>h</m:t>
                              </m:r>
                            </m:e>
                            <m:sub>
                              <m:r>
                                <a:rPr lang="ar-AE" sz="2000" i="1"/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ar-AE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These embeddings form the basis for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similarity-based retrieval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5297CD5-F2A1-691F-C1FF-0AA39423D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1304945"/>
                <a:ext cx="9464040" cy="4933723"/>
              </a:xfrm>
              <a:prstGeom prst="rect">
                <a:avLst/>
              </a:prstGeom>
              <a:blipFill>
                <a:blip r:embed="rId3"/>
                <a:stretch>
                  <a:fillRect l="-580" t="-618" b="-136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61076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E28B6B-C1AC-0F31-F124-A48B7E3BF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11/9/2025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E99711-824D-DB60-04B0-FEB08C8FC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No.1               Batch No.DB-5 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8F9707-AB2E-FEE5-E537-2D393C6D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21</a:t>
            </a:fld>
            <a:endParaRPr lang="en-US"/>
          </a:p>
        </p:txBody>
      </p:sp>
      <p:pic>
        <p:nvPicPr>
          <p:cNvPr id="5" name="Picture 4" descr="A close up of a logo&#10;&#10;AI-generated content may be incorrect.">
            <a:extLst>
              <a:ext uri="{FF2B5EF4-FFF2-40B4-BE49-F238E27FC236}">
                <a16:creationId xmlns:a16="http://schemas.microsoft.com/office/drawing/2014/main" id="{7FEBD71B-76D0-4CDC-DDAD-89B25C9E11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8FF8C9-7A62-BE72-6F3A-BCB66E83EBB7}"/>
              </a:ext>
            </a:extLst>
          </p:cNvPr>
          <p:cNvSpPr txBox="1"/>
          <p:nvPr/>
        </p:nvSpPr>
        <p:spPr>
          <a:xfrm>
            <a:off x="3706887" y="945885"/>
            <a:ext cx="60162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Retrieval with FAISS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2D0D36-B62F-B34E-A7A7-3BB38B9283A1}"/>
              </a:ext>
            </a:extLst>
          </p:cNvPr>
          <p:cNvSpPr txBox="1"/>
          <p:nvPr/>
        </p:nvSpPr>
        <p:spPr>
          <a:xfrm>
            <a:off x="1188720" y="1719820"/>
            <a:ext cx="901192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FAISS (Facebook AI Similarity Search)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for large-scale vector retrieval.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is optimized for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high-dimensional and dense embedding spaces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FAISS performs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Approximate Nearest Neighbor (ANN) search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fast retrieval even for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document collections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Retrieval is based on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inner product similarity.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Cosine similarity measures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closeness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query and chunks.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ar-A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top-k most relevant chunks are selected as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for answer generation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161311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D0822C-FBCD-3CD5-746F-608413EB7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11/9/2025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A20FB8-503A-28ED-479F-852E541F7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0247" y="6356349"/>
            <a:ext cx="4543033" cy="365125"/>
          </a:xfrm>
        </p:spPr>
        <p:txBody>
          <a:bodyPr/>
          <a:lstStyle/>
          <a:p>
            <a:r>
              <a:rPr lang="en-US" dirty="0"/>
              <a:t>Review No.1               Batch No.DB-16 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A34CC1-ECF3-62E1-8A2D-244A35EB5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22</a:t>
            </a:fld>
            <a:endParaRPr lang="en-US"/>
          </a:p>
        </p:txBody>
      </p:sp>
      <p:pic>
        <p:nvPicPr>
          <p:cNvPr id="5" name="Picture 4" descr="A close up of a logo&#10;&#10;AI-generated content may be incorrect.">
            <a:extLst>
              <a:ext uri="{FF2B5EF4-FFF2-40B4-BE49-F238E27FC236}">
                <a16:creationId xmlns:a16="http://schemas.microsoft.com/office/drawing/2014/main" id="{B8CF2758-A8BB-49E7-B743-C17994C3FB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98146F-1700-C27A-204D-1F6B0FD2673E}"/>
              </a:ext>
            </a:extLst>
          </p:cNvPr>
          <p:cNvSpPr txBox="1"/>
          <p:nvPr/>
        </p:nvSpPr>
        <p:spPr>
          <a:xfrm>
            <a:off x="3422080" y="916115"/>
            <a:ext cx="5347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Answer Construction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AA3424-20A9-A265-CEE0-679214D12E5E}"/>
              </a:ext>
            </a:extLst>
          </p:cNvPr>
          <p:cNvSpPr txBox="1"/>
          <p:nvPr/>
        </p:nvSpPr>
        <p:spPr>
          <a:xfrm>
            <a:off x="585983" y="1648402"/>
            <a:ext cx="1090168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 generation is performed using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FLAN-T5-XL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language model.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FLAN-T5-XL is an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instruction-tuned transformer model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query is combined with top-k retrieved chunks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combined input forms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structured prompt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Prompt engineering ensures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context-aware answer generation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model predicts the most probable word sequence using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probability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ar-A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fluent, coherent, and contextually grounded responses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823452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18297EAB-AF6C-939F-D1A3-618F458BB7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7DF6BC-86C0-9D05-429C-0D578B6F3090}"/>
              </a:ext>
            </a:extLst>
          </p:cNvPr>
          <p:cNvSpPr txBox="1"/>
          <p:nvPr/>
        </p:nvSpPr>
        <p:spPr>
          <a:xfrm>
            <a:off x="218209" y="810491"/>
            <a:ext cx="4312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Specifications: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3474F1-6D68-BDA4-0A7F-64C528D6DCC9}"/>
              </a:ext>
            </a:extLst>
          </p:cNvPr>
          <p:cNvSpPr txBox="1"/>
          <p:nvPr/>
        </p:nvSpPr>
        <p:spPr>
          <a:xfrm>
            <a:off x="1918631" y="1426448"/>
            <a:ext cx="964321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Windows 10 / Google Colab Environment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3.10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&amp; Frameworks: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Transformers, PyTorch, NLTK, NumPy, Pandas, Matplotlib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Google Colab, Jupyter Notebook, GitHub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Cosine Similarity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Similarity Score, Top-k Retrieval Accuracy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D9A1D0-9727-80D3-4F2C-CE40598EB861}"/>
              </a:ext>
            </a:extLst>
          </p:cNvPr>
          <p:cNvSpPr txBox="1"/>
          <p:nvPr/>
        </p:nvSpPr>
        <p:spPr>
          <a:xfrm>
            <a:off x="301336" y="4011771"/>
            <a:ext cx="46031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Specifications: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05074A-4D94-BE80-BCE6-FB63DF678CE9}"/>
              </a:ext>
            </a:extLst>
          </p:cNvPr>
          <p:cNvSpPr txBox="1"/>
          <p:nvPr/>
        </p:nvSpPr>
        <p:spPr>
          <a:xfrm>
            <a:off x="1870363" y="4738255"/>
            <a:ext cx="92686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Intel Core i5 or above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Minimum 8 GB (16 GB recommended)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Minimum 10 GB free space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55E2028-944E-6BF4-C60B-5263A2E6E4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11/9/2025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48149D2D-6A07-2CBB-9866-C8A8819B2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263736" cy="365125"/>
          </a:xfrm>
        </p:spPr>
        <p:txBody>
          <a:bodyPr/>
          <a:lstStyle/>
          <a:p>
            <a:r>
              <a:rPr lang="en-US" dirty="0"/>
              <a:t>Review No.1               Batch No.DB-16           Department of CSE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0F7FB18-78E8-970B-F846-5EE82A40C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0985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08A8264E-1DC7-3E01-A1BB-33159DA992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65417A-0B05-3F26-DF2F-023BB8B9821F}"/>
              </a:ext>
            </a:extLst>
          </p:cNvPr>
          <p:cNvSpPr txBox="1"/>
          <p:nvPr/>
        </p:nvSpPr>
        <p:spPr>
          <a:xfrm>
            <a:off x="581890" y="1028699"/>
            <a:ext cx="5600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and Solutions: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8DCB77-63A2-A20E-F501-C827B7438722}"/>
              </a:ext>
            </a:extLst>
          </p:cNvPr>
          <p:cNvSpPr txBox="1"/>
          <p:nvPr/>
        </p:nvSpPr>
        <p:spPr>
          <a:xfrm>
            <a:off x="1439891" y="1643162"/>
            <a:ext cx="955466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memory usage and slow processing during embedding generation for large PDF files.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MiniLM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Sentence-BERT (lightweight variant)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reduce computational load while maintaining high semantic accuracy.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Occasional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drift or hallucination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generated responses.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top-k FAISS retrieval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chunking with 50% overlap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preserve contextual continuity and minimize irrelevant outputs.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 issues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during FAISS search and model inference on large documents.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Optimized vector indexing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 normalization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deployed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(NVIDIA RTX 3050)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faster query processing.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Difficulty integrating multiple deep learning components into one workflow.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Built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pipeline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combining Sentence-BERT, FAISS, and FLAN-T5 through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Hugging Face Transformers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Gradio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ensuring smooth end-to-end execution.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A8DAE37-666E-EF6B-D76F-59401CF360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11/9/2025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BCBFC1E-3AF5-D98F-4F8D-76196C6E6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357255" cy="365125"/>
          </a:xfrm>
        </p:spPr>
        <p:txBody>
          <a:bodyPr/>
          <a:lstStyle/>
          <a:p>
            <a:r>
              <a:rPr lang="en-US" dirty="0"/>
              <a:t>Review No.1               Batch No.DB-16           Department of CSE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4CB476B-6D84-2FF0-1267-6A299D54A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8525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3A678CA9-14C2-E6F6-6F03-D4DB587E54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50C286-210A-1F3F-ED66-6C835025E8AB}"/>
              </a:ext>
            </a:extLst>
          </p:cNvPr>
          <p:cNvSpPr txBox="1"/>
          <p:nvPr/>
        </p:nvSpPr>
        <p:spPr>
          <a:xfrm>
            <a:off x="4061937" y="717754"/>
            <a:ext cx="46872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FC2E08-176E-25DC-C433-316F21DFE515}"/>
              </a:ext>
            </a:extLst>
          </p:cNvPr>
          <p:cNvSpPr txBox="1"/>
          <p:nvPr/>
        </p:nvSpPr>
        <p:spPr>
          <a:xfrm>
            <a:off x="550717" y="1620982"/>
            <a:ext cx="4687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Methodology: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6A4738-C6DD-AC72-E5AE-8802752E0343}"/>
              </a:ext>
            </a:extLst>
          </p:cNvPr>
          <p:cNvSpPr txBox="1"/>
          <p:nvPr/>
        </p:nvSpPr>
        <p:spPr>
          <a:xfrm>
            <a:off x="2109355" y="2201044"/>
            <a:ext cx="900891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using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Cosine Similarity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Similarity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Latency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with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Co-Pilot chatbot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baseline.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 on multiple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and technical PDF documents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Executed on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Colab (NVIDIA RTX 3050 GPU)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Hugging Face Transformers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chunk size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overlap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top-k retrieval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optimal performance.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averaged across queries for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 and consistent evaluation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CB26876F-B88B-7988-F02E-B90C3DC7AE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11/9/2025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0B2B1304-4985-A1DA-94B5-2A9FECD42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263736" cy="365125"/>
          </a:xfrm>
        </p:spPr>
        <p:txBody>
          <a:bodyPr/>
          <a:lstStyle/>
          <a:p>
            <a:r>
              <a:rPr lang="en-US" dirty="0"/>
              <a:t>Review No.1               Batch No.DB-16          Department of CSE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34ACE88-B3D0-2E03-5E7C-F288DB2B6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2437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0F3FF8-1B47-DDB9-7185-DB1D95E27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11/9/2025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8107B8-7B26-862F-49E9-E6F9DA5E1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No.1               Batch No.DB-5 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6EF0F9-3F6F-88A0-6481-5C307B32C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26</a:t>
            </a:fld>
            <a:endParaRPr lang="en-US"/>
          </a:p>
        </p:txBody>
      </p:sp>
      <p:pic>
        <p:nvPicPr>
          <p:cNvPr id="5" name="Picture 4" descr="A close up of a logo&#10;&#10;AI-generated content may be incorrect.">
            <a:extLst>
              <a:ext uri="{FF2B5EF4-FFF2-40B4-BE49-F238E27FC236}">
                <a16:creationId xmlns:a16="http://schemas.microsoft.com/office/drawing/2014/main" id="{6173F753-5E88-E073-796D-588BAA464B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642400-32CC-8245-CBD1-015E4715F2FF}"/>
              </a:ext>
            </a:extLst>
          </p:cNvPr>
          <p:cNvSpPr txBox="1"/>
          <p:nvPr/>
        </p:nvSpPr>
        <p:spPr>
          <a:xfrm>
            <a:off x="3184403" y="1114090"/>
            <a:ext cx="5704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Analysis – Response Latency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FC5D4F-17A5-5257-493C-12FF8B8246E8}"/>
              </a:ext>
            </a:extLst>
          </p:cNvPr>
          <p:cNvSpPr txBox="1"/>
          <p:nvPr/>
        </p:nvSpPr>
        <p:spPr>
          <a:xfrm>
            <a:off x="838200" y="1972092"/>
            <a:ext cx="97790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latency measures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taken to generate an answer per user query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achieved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time of 3–5 seconds per query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demonstrates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real-time interaction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large PDF documents.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baseline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Co-Pilot chatbot required 4–7 seconds per query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proposed approach shows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performance gain over the baseline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acceleration using NVIDIA RTX 3050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significantly improved inference speed.</a:t>
            </a:r>
          </a:p>
          <a:p>
            <a:endParaRPr lang="ar-A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normalization and optimized FAISS indexing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further reduced retrieval latency.</a:t>
            </a:r>
          </a:p>
        </p:txBody>
      </p:sp>
    </p:spTree>
    <p:extLst>
      <p:ext uri="{BB962C8B-B14F-4D97-AF65-F5344CB8AC3E}">
        <p14:creationId xmlns:p14="http://schemas.microsoft.com/office/powerpoint/2010/main" val="14979354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C33FA6-94A7-329E-B718-626B1B3E0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11/9/2025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30A0C9-0C03-4F08-2FDE-B918D45DD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0247" y="6356349"/>
            <a:ext cx="4268713" cy="365125"/>
          </a:xfrm>
        </p:spPr>
        <p:txBody>
          <a:bodyPr/>
          <a:lstStyle/>
          <a:p>
            <a:r>
              <a:rPr lang="en-US" dirty="0"/>
              <a:t>Review No.1               Batch No.DB-16 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18FF13-DE72-EC08-8499-2EE5F236C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27</a:t>
            </a:fld>
            <a:endParaRPr lang="en-US"/>
          </a:p>
        </p:txBody>
      </p:sp>
      <p:pic>
        <p:nvPicPr>
          <p:cNvPr id="5" name="Picture 4" descr="A close up of a logo&#10;&#10;AI-generated content may be incorrect.">
            <a:extLst>
              <a:ext uri="{FF2B5EF4-FFF2-40B4-BE49-F238E27FC236}">
                <a16:creationId xmlns:a16="http://schemas.microsoft.com/office/drawing/2014/main" id="{D9D03F0D-55A3-7069-A78B-07F821AE49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C88B90-738B-1AEC-6BD6-40E153E4B44F}"/>
              </a:ext>
            </a:extLst>
          </p:cNvPr>
          <p:cNvSpPr txBox="1"/>
          <p:nvPr/>
        </p:nvSpPr>
        <p:spPr>
          <a:xfrm>
            <a:off x="3581400" y="877530"/>
            <a:ext cx="5855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 &amp; Accuracy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85B49B-FAF6-B379-DF89-B71679CF6FEC}"/>
              </a:ext>
            </a:extLst>
          </p:cNvPr>
          <p:cNvSpPr txBox="1"/>
          <p:nvPr/>
        </p:nvSpPr>
        <p:spPr>
          <a:xfrm>
            <a:off x="1107440" y="1579265"/>
            <a:ext cx="943864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used to validate system performance on selected queries.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evaluation involved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technical and domain-specific queries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 of these,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queries were answered with 100% correctness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indicates strong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retrieval and answer generation capability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incorrect answers were produced for clearly defined queries.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Occasional hallucinations occurred only for highly ambiguous queries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ar-A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confirm the system’s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 accuracy for well-formed natural language questions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337381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9224EB-69AA-68C5-97FA-60D81AC55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11/9/2025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83D287-E1C2-1622-C53D-EC63B810E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0247" y="6356349"/>
            <a:ext cx="4258553" cy="365125"/>
          </a:xfrm>
        </p:spPr>
        <p:txBody>
          <a:bodyPr/>
          <a:lstStyle/>
          <a:p>
            <a:r>
              <a:rPr lang="en-US" dirty="0"/>
              <a:t>Review No.1               Batch No.DB-16 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16EEAC-DE0B-DF33-4B65-9F63EAA78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28</a:t>
            </a:fld>
            <a:endParaRPr lang="en-US"/>
          </a:p>
        </p:txBody>
      </p:sp>
      <p:pic>
        <p:nvPicPr>
          <p:cNvPr id="5" name="Picture 4" descr="A close up of a logo&#10;&#10;AI-generated content may be incorrect.">
            <a:extLst>
              <a:ext uri="{FF2B5EF4-FFF2-40B4-BE49-F238E27FC236}">
                <a16:creationId xmlns:a16="http://schemas.microsoft.com/office/drawing/2014/main" id="{CDBD8E75-3729-12D5-4C83-4D59E464F8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9D20D3-2A34-EA12-4B5D-324852B6D1F8}"/>
              </a:ext>
            </a:extLst>
          </p:cNvPr>
          <p:cNvSpPr txBox="1"/>
          <p:nvPr/>
        </p:nvSpPr>
        <p:spPr>
          <a:xfrm>
            <a:off x="3098800" y="874784"/>
            <a:ext cx="6319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Future Scope – Multimodal Support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60A314-A7EE-3988-29D5-E7D4A579C568}"/>
              </a:ext>
            </a:extLst>
          </p:cNvPr>
          <p:cNvSpPr txBox="1"/>
          <p:nvPr/>
        </p:nvSpPr>
        <p:spPr>
          <a:xfrm>
            <a:off x="1124463" y="1565931"/>
            <a:ext cx="937768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system processes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text-only PDF documents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Future versions aim to support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vision-language integration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will enable understanding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images, diagrams, and charts within PDFs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Optical Character Recognition (OCR)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will be integrated for scanned documents.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OCR support will also handle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or image-based PDFs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will move toward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layout-aware document parsing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ar-A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Layout awareness will improve interpretation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tables, multi-column text, and structured formats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006550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E31C79D1-6541-5A68-5344-32F3DAAC8A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3C33FA-ECF7-80AE-998F-381FF1A38A96}"/>
              </a:ext>
            </a:extLst>
          </p:cNvPr>
          <p:cNvSpPr txBox="1"/>
          <p:nvPr/>
        </p:nvSpPr>
        <p:spPr>
          <a:xfrm>
            <a:off x="779317" y="976746"/>
            <a:ext cx="4145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Comparison: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455A650-FCA6-4005-E4D0-E9D924BAB5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11/9/2025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7B786B6-C554-4FE5-443A-ED4D0EDE0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222173" cy="365125"/>
          </a:xfrm>
        </p:spPr>
        <p:txBody>
          <a:bodyPr/>
          <a:lstStyle/>
          <a:p>
            <a:r>
              <a:rPr lang="en-US" dirty="0"/>
              <a:t>Review No.1               Batch No.DB-16         Department of CSE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7D615EC-6F4C-934B-91CD-F893327E2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29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739905-AC4C-6B7C-AB52-C7C73F356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445" y="1438412"/>
            <a:ext cx="5785556" cy="40379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4125D8F-F18B-BFEE-6271-B8FE5B942AF3}"/>
              </a:ext>
            </a:extLst>
          </p:cNvPr>
          <p:cNvSpPr txBox="1"/>
          <p:nvPr/>
        </p:nvSpPr>
        <p:spPr>
          <a:xfrm>
            <a:off x="6228007" y="1438411"/>
            <a:ext cx="565354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Chat-bot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outperformed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Co-Pilot Chat-bot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both metrics.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~3.2%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Cosine Similarity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~2.8%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Semantic Similarity.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better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contextual understanding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accuracy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proposed model.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enhanced model demonstrates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alignment and semantic coherence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user inputs, proving its effectiveness over the baseline Co-Pilot Chat-bot.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29942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CFC5E0-C384-D2E1-FD19-21BC21EAC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11/9/2025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5C7BB-7342-703F-3508-BA67F6DF3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No.1               Batch No.DB-16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A48708-110E-819F-E6D2-81AC92FFC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30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722628-ECD2-0BB0-D405-B8E2EAA9C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53" y="0"/>
            <a:ext cx="3987130" cy="719390"/>
          </a:xfrm>
          <a:prstGeom prst="rect">
            <a:avLst/>
          </a:prstGeom>
        </p:spPr>
      </p:pic>
      <p:pic>
        <p:nvPicPr>
          <p:cNvPr id="9" name="Picture 8" descr="A graph of a line chart&#10;&#10;AI-generated content may be incorrect.">
            <a:extLst>
              <a:ext uri="{FF2B5EF4-FFF2-40B4-BE49-F238E27FC236}">
                <a16:creationId xmlns:a16="http://schemas.microsoft.com/office/drawing/2014/main" id="{0BD71ABD-40EA-D29D-0763-BD86C55B45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48" y="810746"/>
            <a:ext cx="6707861" cy="45183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248235-0C78-5B20-3FC3-17A1582885F8}"/>
              </a:ext>
            </a:extLst>
          </p:cNvPr>
          <p:cNvSpPr txBox="1"/>
          <p:nvPr/>
        </p:nvSpPr>
        <p:spPr>
          <a:xfrm>
            <a:off x="6764594" y="1081548"/>
            <a:ext cx="5152103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Chat-bot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consistently performs better in both metrics.	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 trend indicates enhanced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comprehension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accuracy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gap between the two models widens slightly as semantic understanding increases.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line chart demonstrates that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Chat-bot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delivers superior similarity scores across both metrics, validating its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NLP and response relevance capabilities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 the baseline Co-Pilot Chat-bot.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38731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CD3BFE5D-FF83-AA5C-0A44-7C4F5C4754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352982-C977-57F5-E2FA-D10275179A7E}"/>
              </a:ext>
            </a:extLst>
          </p:cNvPr>
          <p:cNvSpPr txBox="1"/>
          <p:nvPr/>
        </p:nvSpPr>
        <p:spPr>
          <a:xfrm>
            <a:off x="613064" y="1049483"/>
            <a:ext cx="65566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1B1E4E-F2E9-9DDE-E49D-D003FAE74DF1}"/>
              </a:ext>
            </a:extLst>
          </p:cNvPr>
          <p:cNvSpPr txBox="1"/>
          <p:nvPr/>
        </p:nvSpPr>
        <p:spPr>
          <a:xfrm>
            <a:off x="1846118" y="1763924"/>
            <a:ext cx="950768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 chatbot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achieved high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accuracy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an average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cosine similarity of 0.85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Top-3 retrieval accuracy exceeded 90%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confirming strong contextual matching.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to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Co-Pilot chatbot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showed higher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similarity (87.99% vs. 85.21%)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lower response time (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3–5 sec/query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answers were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fluent, coherent, and contextually relevant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reducing hallucinations and irrelevant outputs.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indicate that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semantic retrieval (FAISS + Sentence-BERT)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modeling (FLAN-T5)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balanced performance in both accuracy and efficiency.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F645D2BD-435A-2C8E-D29E-E0DB3C0B86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11/9/2025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3D9AB23-1913-C97F-1B5C-A6E5CFDF1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294909" cy="365125"/>
          </a:xfrm>
        </p:spPr>
        <p:txBody>
          <a:bodyPr/>
          <a:lstStyle/>
          <a:p>
            <a:r>
              <a:rPr lang="en-US" dirty="0"/>
              <a:t>Review No.1               Batch No.DB-16            Department of CSE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1A455D1-EF16-5066-3534-4B56A9360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8281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A64531-669E-78E4-7DCB-8AB613558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11/9/2025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F4986F-E931-C999-8D41-344A5305D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No.1               Batch No.DB-5 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B875B2-8AEC-42BA-0B94-1914B06A5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32</a:t>
            </a:fld>
            <a:endParaRPr lang="en-US"/>
          </a:p>
        </p:txBody>
      </p:sp>
      <p:pic>
        <p:nvPicPr>
          <p:cNvPr id="5" name="Picture 4" descr="A close up of a logo&#10;&#10;AI-generated content may be incorrect.">
            <a:extLst>
              <a:ext uri="{FF2B5EF4-FFF2-40B4-BE49-F238E27FC236}">
                <a16:creationId xmlns:a16="http://schemas.microsoft.com/office/drawing/2014/main" id="{A3AA8B22-AD79-0100-AE4B-A1E92FCD3A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051835-2E7C-7488-F628-84B8CCD9B786}"/>
              </a:ext>
            </a:extLst>
          </p:cNvPr>
          <p:cNvSpPr txBox="1"/>
          <p:nvPr/>
        </p:nvSpPr>
        <p:spPr>
          <a:xfrm>
            <a:off x="3581400" y="959499"/>
            <a:ext cx="4704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and Use Cases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AA76F4-0AFB-E1A8-05AE-E9BE0686B1AC}"/>
              </a:ext>
            </a:extLst>
          </p:cNvPr>
          <p:cNvSpPr txBox="1"/>
          <p:nvPr/>
        </p:nvSpPr>
        <p:spPr>
          <a:xfrm>
            <a:off x="1559560" y="1790343"/>
            <a:ext cx="945896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research paper querying and literature review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learning support for technical subjects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documentation and management assistance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and policy document analysis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Corporate knowledge-base querying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manuals and user documentation support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Enterprise-level document intelligence systems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6948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5BB136-1FD3-1559-878C-D193ED109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11/9/2025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10983D-1A7C-1D29-3A76-80D4A5D9F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0247" y="6356349"/>
            <a:ext cx="4360153" cy="365125"/>
          </a:xfrm>
        </p:spPr>
        <p:txBody>
          <a:bodyPr/>
          <a:lstStyle/>
          <a:p>
            <a:r>
              <a:rPr lang="en-US" dirty="0"/>
              <a:t>Review No.1               Batch No.DB-16 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4BE5B9-2184-BB7C-4CDE-77127D406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33</a:t>
            </a:fld>
            <a:endParaRPr lang="en-US"/>
          </a:p>
        </p:txBody>
      </p:sp>
      <p:pic>
        <p:nvPicPr>
          <p:cNvPr id="5" name="Picture 4" descr="A close up of a logo&#10;&#10;AI-generated content may be incorrect.">
            <a:extLst>
              <a:ext uri="{FF2B5EF4-FFF2-40B4-BE49-F238E27FC236}">
                <a16:creationId xmlns:a16="http://schemas.microsoft.com/office/drawing/2014/main" id="{E785DF7B-D9AD-FB57-0AAF-764213BED2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5021D6-3BA9-AE65-C129-CA7368C3C161}"/>
              </a:ext>
            </a:extLst>
          </p:cNvPr>
          <p:cNvSpPr txBox="1"/>
          <p:nvPr/>
        </p:nvSpPr>
        <p:spPr>
          <a:xfrm>
            <a:off x="2966663" y="987954"/>
            <a:ext cx="5449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the Current System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915070-5F8A-78C2-048B-041604CD0268}"/>
              </a:ext>
            </a:extLst>
          </p:cNvPr>
          <p:cNvSpPr txBox="1"/>
          <p:nvPr/>
        </p:nvSpPr>
        <p:spPr>
          <a:xfrm>
            <a:off x="1241303" y="1719820"/>
            <a:ext cx="890016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only text-based PDFs in the current version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depends on document size and chunk configuration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Occasional hallucinations for highly ambiguous queries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image, table, or diagram understanding yet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GPU for optimal latency performance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Domain-specific fine-tuning not applied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Dependency on quality of extracted PDF text</a:t>
            </a:r>
          </a:p>
        </p:txBody>
      </p:sp>
    </p:spTree>
    <p:extLst>
      <p:ext uri="{BB962C8B-B14F-4D97-AF65-F5344CB8AC3E}">
        <p14:creationId xmlns:p14="http://schemas.microsoft.com/office/powerpoint/2010/main" val="32600473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2627DE52-22EA-96B9-D436-7F996DBDCD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248351-FE76-A831-4BCC-2918A16460ED}"/>
              </a:ext>
            </a:extLst>
          </p:cNvPr>
          <p:cNvSpPr txBox="1"/>
          <p:nvPr/>
        </p:nvSpPr>
        <p:spPr>
          <a:xfrm>
            <a:off x="3221181" y="728144"/>
            <a:ext cx="61514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187452E8-67B9-409B-B699-E1F61080C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11/9/2025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14BAE47A-C5C8-3E32-6906-2444F3849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242955" cy="365125"/>
          </a:xfrm>
        </p:spPr>
        <p:txBody>
          <a:bodyPr/>
          <a:lstStyle/>
          <a:p>
            <a:r>
              <a:rPr lang="en-US" dirty="0"/>
              <a:t>Review No.1               Batch No.DB-16           Department of CSE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2D45738-15C5-6086-82F4-85CE17D5A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34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1EBE20-21BA-915C-6853-070A1DD233E6}"/>
              </a:ext>
            </a:extLst>
          </p:cNvPr>
          <p:cNvSpPr txBox="1"/>
          <p:nvPr/>
        </p:nvSpPr>
        <p:spPr>
          <a:xfrm>
            <a:off x="670560" y="1298425"/>
            <a:ext cx="102362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interactive PDF-based chatbot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integrates Sentence-BERT for semantic embeddings, FAISS for efficient similarity-based retrieval, and FLAN-T5-XL for high-quality generative answer.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context-aware, accurate, and human-like responses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leveraging retrieval-augmented generation, without requiring any additional domain-specific fine-tuning of the language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superior performance over baseline models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achieving higher semantic similarity scores and reduced response latency through optimized vector indexing and GPU acceleration.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Validated the robustness of the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multiple technical queries, showing consistent performance even when user questions were paraphrased or indirectly phrased.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Effectively minimized irrelevant responses and hallucinations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grounding generation strictly in retrieved document context.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Confirmed the scalability and modularity of the architecture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allowing easy replacement or enhancement of individual components such as embedding models or retrievers.</a:t>
            </a:r>
          </a:p>
        </p:txBody>
      </p:sp>
    </p:spTree>
    <p:extLst>
      <p:ext uri="{BB962C8B-B14F-4D97-AF65-F5344CB8AC3E}">
        <p14:creationId xmlns:p14="http://schemas.microsoft.com/office/powerpoint/2010/main" val="41125723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248224-9256-0DEC-5750-9A9F7E5A0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11/9/2025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CC69C7-C866-5232-D52A-0D7842C47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No.1               Batch No.DB-16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9FCD32-5B74-0A65-BBAA-531A88B2A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35</a:t>
            </a:fld>
            <a:endParaRPr lang="en-US"/>
          </a:p>
        </p:txBody>
      </p:sp>
      <p:pic>
        <p:nvPicPr>
          <p:cNvPr id="5" name="Picture 4" descr="A close up of a logo&#10;&#10;AI-generated content may be incorrect.">
            <a:extLst>
              <a:ext uri="{FF2B5EF4-FFF2-40B4-BE49-F238E27FC236}">
                <a16:creationId xmlns:a16="http://schemas.microsoft.com/office/drawing/2014/main" id="{4904D3FC-1272-26B2-4E7F-F46055D0F3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8415B5-9A67-E29A-C605-EEA51908E2E2}"/>
              </a:ext>
            </a:extLst>
          </p:cNvPr>
          <p:cNvSpPr txBox="1"/>
          <p:nvPr/>
        </p:nvSpPr>
        <p:spPr>
          <a:xfrm>
            <a:off x="3581400" y="813229"/>
            <a:ext cx="5679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E68C84-666D-68D5-50CC-F917F055BFC0}"/>
              </a:ext>
            </a:extLst>
          </p:cNvPr>
          <p:cNvSpPr txBox="1"/>
          <p:nvPr/>
        </p:nvSpPr>
        <p:spPr>
          <a:xfrm>
            <a:off x="837443" y="1504376"/>
            <a:ext cx="1039876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Domain-Specific Fine-Tuning: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Fine-tuning the system for specialized domains such as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legal, medical, academic, and financial documents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terminology understanding, precision, and regulatory compliance.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 and Layout-Aware Parsing: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advanced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Optical Character Recognition (OCR)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combined with layout-aware models to accurately process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scanned PDFs, handwritten content, tables, figures, and multi-column layouts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Document Understanding: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Extension toward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vision-language models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interpret images, charts, diagrams, and infographics embedded within documents.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and API-Based Deployment: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as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cloud-hosted service or RESTful API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support enterprise-scale document repositories and multi-user environments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891907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C3D7B6-F4CA-0046-CE1A-B3C7A63D5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87130" cy="7193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38C498-656F-5272-7215-8CE07BE2F005}"/>
              </a:ext>
            </a:extLst>
          </p:cNvPr>
          <p:cNvSpPr txBox="1"/>
          <p:nvPr/>
        </p:nvSpPr>
        <p:spPr>
          <a:xfrm>
            <a:off x="4786745" y="548913"/>
            <a:ext cx="26185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98AD68D-EE1E-5B71-9C61-B13CC0D811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11/9/2025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377FC1A-A20C-2C96-D0FE-F584CE176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274127" cy="365125"/>
          </a:xfrm>
        </p:spPr>
        <p:txBody>
          <a:bodyPr/>
          <a:lstStyle/>
          <a:p>
            <a:r>
              <a:rPr lang="en-US" dirty="0"/>
              <a:t>Review No.1               Batch No.DB-16          Department of CSE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5413461-C16F-77EE-30A0-AFE20E543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36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859140-86DD-3369-4E2D-2BC9B0124BFC}"/>
              </a:ext>
            </a:extLst>
          </p:cNvPr>
          <p:cNvSpPr txBox="1"/>
          <p:nvPr/>
        </p:nvSpPr>
        <p:spPr>
          <a:xfrm>
            <a:off x="1104677" y="1051974"/>
            <a:ext cx="10356273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Adamopoulou and L.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Moussiades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“An overview of chatbot technology,” in Artificial Intelligence Applications and Innovations, IFIP Advances in Information and Communication Technology, vol. 584, pp. 373–383, Springer, 2020.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10.1007/978-3-030-49161-1 31.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B. A. Shawar and E. Atwell, “Chatbots: Are they really useful?,” LDV Forum, vol. 22, no. 1, pp. 29–49, 2007.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Devlin, M.-W. Chang, K. Lee, and K. Toutanova, “BERT: Pre-training of deep bidirectional transformers for language understanding,” in Proc. NAACL-HLT, 2019, pp. 4171–4186.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10.18653/v1/N19-1423.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Adobe Systems, “PDF reference, sixth edition,” 2006. [Online]. Available: https://www.adobe.com/devnet/pdf/pdf reference.html. [Accessed: Jul. 13, 2025].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Guo, Y. Fan, Q. Ai, and W. B. Croft, “A deep relevance matching model for ad-hoc retrieval,” in Proc. ACM Int. Conf. Information and Knowledge Management (CIKM), 2016, pp. 55–64.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10.1145/2983323.2983769.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5001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99FE1A-D4CB-22AC-D519-855C39EE8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11/9/2025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627EFB-E3DA-CF3D-0A61-BB48B2337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No.1               Batch No.DB-16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73E14-404D-D764-2A04-635033EBB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37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9295DA-3316-E2F5-5129-0E148420B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6" y="0"/>
            <a:ext cx="3987130" cy="7193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A3C30C-55C8-5416-24B9-C3049ADE1AC9}"/>
              </a:ext>
            </a:extLst>
          </p:cNvPr>
          <p:cNvSpPr txBox="1"/>
          <p:nvPr/>
        </p:nvSpPr>
        <p:spPr>
          <a:xfrm>
            <a:off x="1157748" y="1002889"/>
            <a:ext cx="1019605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Vaswani et al., “Attention is all you need,” in Advances in Neural Information Processing Systems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2017, pp. 5998–6008.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N. Reimers and I.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Gurevych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“Sentence-BERT: Sentence embeddings using Siamese BERT-networks,” in Proc. EMNLP, 2019, pp. 3982–3992.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10.18653/v1/D19-1410.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J. Johnson, M.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Douze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H. Jegou, “Billion-scale similarity search ´ with GPUs,” IEEE Trans. Big Data, vol. 7, no. 3, pp. 535–547, 2021.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10.1109/TBDATA.2019.2921572. 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H. W. Chung et al., “Scaling instruction-finetuned language models,”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arXiv:2210.11416, 2022.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Weizenbaum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“ELIZA — a computer program for the study of natural language communication between man and machine,” Commun. ACM, vol. 9, no. 1, pp. 36–45, 1966.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10.1145/365153.365168.</a:t>
            </a:r>
          </a:p>
        </p:txBody>
      </p:sp>
    </p:spTree>
    <p:extLst>
      <p:ext uri="{BB962C8B-B14F-4D97-AF65-F5344CB8AC3E}">
        <p14:creationId xmlns:p14="http://schemas.microsoft.com/office/powerpoint/2010/main" val="29730269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D1C77A-E6BA-B3A7-83D9-3D6AF9EB6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11/9/2025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715578-72FD-ECC5-153C-B9E723D27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No.1               Batch No.DB-16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9CAADD-D4EF-3C0C-C8D5-B0281DC14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38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02E133-E1F5-4E81-7FAB-4B7717A89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70" y="0"/>
            <a:ext cx="3987130" cy="7193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8C7828-8669-BFAF-223D-B18A8D4905BD}"/>
              </a:ext>
            </a:extLst>
          </p:cNvPr>
          <p:cNvSpPr txBox="1"/>
          <p:nvPr/>
        </p:nvSpPr>
        <p:spPr>
          <a:xfrm>
            <a:off x="658761" y="1116041"/>
            <a:ext cx="1102196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 Zhang et al., “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Dialogpt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Large-scale generative pre-training for conversational response generation,” in Proc. ACL System Demonstrations, 2020, pp. 270–278.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S. Robertson and H. Zaragoza, “The probabilistic relevance framework: BM25 and beyond,” Found. Trends Inf.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vol. 3, no. 4, pp. 333–389, 2009.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10.1561/1500000019.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Neumann, A. Becker, and M. Hofmann, “Design and evaluation of an LLM-powered chatbot for database education,” in Proc. ACM Conf. Learning at Scale, 2025.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K. Alam, M. M. Rahman, and T. Akter, “A PDF-driven AI chatbot for project document management,” Int. J. Adv.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Sci. Appl., vol. 15, no. 1, pp. 1–10, 2025.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W. Wu and J. Luo, “Challenges of AI chatbot adoption for SMEs: A resource allocation perspective,” J. Small Bus. Manage., vol. 63, no. 2, pp. 234–249, 2025.</a:t>
            </a:r>
          </a:p>
        </p:txBody>
      </p:sp>
    </p:spTree>
    <p:extLst>
      <p:ext uri="{BB962C8B-B14F-4D97-AF65-F5344CB8AC3E}">
        <p14:creationId xmlns:p14="http://schemas.microsoft.com/office/powerpoint/2010/main" val="23319595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925BEE-ED02-C4BC-F2BC-4CC410215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87130" cy="7193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939DABD-CD54-6242-AB1C-176E10FC7411}"/>
              </a:ext>
            </a:extLst>
          </p:cNvPr>
          <p:cNvSpPr txBox="1"/>
          <p:nvPr/>
        </p:nvSpPr>
        <p:spPr>
          <a:xfrm>
            <a:off x="3834246" y="623455"/>
            <a:ext cx="41459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ACKNOWLEGEMENTS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4CB3ED-F8EE-21E7-69A1-8DE76DCE002E}"/>
              </a:ext>
            </a:extLst>
          </p:cNvPr>
          <p:cNvSpPr txBox="1"/>
          <p:nvPr/>
        </p:nvSpPr>
        <p:spPr>
          <a:xfrm>
            <a:off x="959427" y="1220084"/>
            <a:ext cx="10273145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sincerely thank our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SYED RIZWANA MADAM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their valuable guidance, encouragement, and continuous support throughout the project.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would  like to thank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 of the Department and faculty of Computer Science and Engineering, Narasaraopeta Engineering College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for providing essential resources and technical support.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extend our gratitude to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 Narasaraopeta Engineering College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for providing the required infrastructure and opportunity to present this work.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any queries or further information, please reach out to:satishduddu29@gmail.com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1603D17B-AF56-17D9-9843-881BE08675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11/9/2025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6227673-EB96-8C85-D2BC-12B82DE72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305300" cy="365125"/>
          </a:xfrm>
        </p:spPr>
        <p:txBody>
          <a:bodyPr/>
          <a:lstStyle/>
          <a:p>
            <a:r>
              <a:rPr lang="en-US" dirty="0"/>
              <a:t>Review No.1               Batch No.DB-16           Department of CSE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B86814C-E262-775B-CC55-0A1E17D97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8302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7ED6DC-8DAA-158E-2C98-104A4A8FF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87130" cy="7193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4B59A3-6EB6-5579-2FF7-A82192282C33}"/>
              </a:ext>
            </a:extLst>
          </p:cNvPr>
          <p:cNvSpPr txBox="1"/>
          <p:nvPr/>
        </p:nvSpPr>
        <p:spPr>
          <a:xfrm>
            <a:off x="3987130" y="831273"/>
            <a:ext cx="47798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and ANSWERS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8B3D090-3E2D-689D-CF63-BEFD300D93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11/9/2025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65F37CB-D831-5F42-51A8-5BD7FA9EA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398818" cy="365125"/>
          </a:xfrm>
        </p:spPr>
        <p:txBody>
          <a:bodyPr/>
          <a:lstStyle/>
          <a:p>
            <a:r>
              <a:rPr lang="en-US" dirty="0"/>
              <a:t>Review No.1               Batch No.DB-5            Department of CSE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7029F9E-D9ED-813F-193D-6C054043F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036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1003</TotalTime>
  <Words>4520</Words>
  <Application>Microsoft Office PowerPoint</Application>
  <PresentationFormat>Widescreen</PresentationFormat>
  <Paragraphs>623</Paragraphs>
  <Slides>40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SHAIK FAHEEM AHMED</dc:creator>
  <cp:lastModifiedBy>Sunny Duddu</cp:lastModifiedBy>
  <cp:revision>17</cp:revision>
  <dcterms:created xsi:type="dcterms:W3CDTF">2025-11-08T12:38:47Z</dcterms:created>
  <dcterms:modified xsi:type="dcterms:W3CDTF">2026-02-07T10:11:14Z</dcterms:modified>
</cp:coreProperties>
</file>